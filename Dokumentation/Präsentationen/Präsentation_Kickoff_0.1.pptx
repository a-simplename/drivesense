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8"/>
  </p:notesMasterIdLst>
  <p:handoutMasterIdLst>
    <p:handoutMasterId r:id="rId19"/>
  </p:handoutMasterIdLst>
  <p:sldIdLst>
    <p:sldId id="312" r:id="rId5"/>
    <p:sldId id="304" r:id="rId6"/>
    <p:sldId id="307" r:id="rId7"/>
    <p:sldId id="281" r:id="rId8"/>
    <p:sldId id="282" r:id="rId9"/>
    <p:sldId id="314" r:id="rId10"/>
    <p:sldId id="315" r:id="rId11"/>
    <p:sldId id="317" r:id="rId12"/>
    <p:sldId id="318" r:id="rId13"/>
    <p:sldId id="319" r:id="rId14"/>
    <p:sldId id="321" r:id="rId15"/>
    <p:sldId id="322" r:id="rId16"/>
    <p:sldId id="297" r:id="rId17"/>
  </p:sldIdLst>
  <p:sldSz cx="12192000" cy="6858000"/>
  <p:notesSz cx="13716000" cy="24384000"/>
  <p:defaultTextStyle>
    <a:defPPr rtl="0">
      <a:defRPr lang="de-DE"/>
    </a:defPPr>
    <a:lvl1pPr marL="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5388" autoAdjust="0"/>
  </p:normalViewPr>
  <p:slideViewPr>
    <p:cSldViewPr snapToGrid="0" snapToObjects="1">
      <p:cViewPr varScale="1">
        <p:scale>
          <a:sx n="57" d="100"/>
          <a:sy n="57" d="100"/>
        </p:scale>
        <p:origin x="78" y="173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>
        <p:scale>
          <a:sx n="30" d="100"/>
          <a:sy n="30" d="100"/>
        </p:scale>
        <p:origin x="4368" y="5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1F194BD-2269-4EFA-851F-443B834DD978}" type="datetimeyyyy">
              <a:rPr lang="de-DE" smtClean="0"/>
              <a:t>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20BD0AB-C59E-4A46-83D3-F07787446BA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de-DE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bildung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ihand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ihand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4" name="Bild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de-DE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de-DE" sz="18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solidFill>
                  <a:schemeClr val="bg1"/>
                </a:solidFill>
                <a:latin typeface="+mj-lt"/>
              </a:defRPr>
            </a:lvl1pPr>
          </a:lstStyle>
          <a:p>
            <a:fld id="{48F63A3B-78C7-47BE-AE5E-E10140E04643}" type="slidenum">
              <a:rPr lang="de-AT" smtClean="0"/>
              <a:pPr/>
              <a:t>‹Nr.›</a:t>
            </a:fld>
            <a:endParaRPr lang="de-A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ihandform: Form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15" name="Freihandform: Form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6" name="Bild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36" name="Freihand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3" name="Freihand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lvl="0" algn="ctr" rtl="0"/>
            <a:endParaRPr lang="de-DE" dirty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Klicken Sie, um Text hinzuzufügen.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52" name="Bildplatzhalt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ild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3" name="Freihandform: Form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9" name="Freihand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1" name="Freihand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33" name="Bild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3" name="Inhaltsplatzhalt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Foliennummernplatzhalt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1" name="Abbildung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3" name="Bild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7" name="Bild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19" name="Bild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ihand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6" name="Freihand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9" name="Foliennummernplatzhalt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5" name="Inhaltsplatzhalt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marL="283464" indent="-283464">
              <a:spcBef>
                <a:spcPts val="1000"/>
              </a:spcBef>
              <a:defRPr lang="de-DE" sz="1800"/>
            </a:lvl2pPr>
            <a:lvl3pPr marL="283464" indent="-283464">
              <a:spcBef>
                <a:spcPts val="1000"/>
              </a:spcBef>
              <a:defRPr lang="de-DE" sz="1800"/>
            </a:lvl3pPr>
            <a:lvl4pPr marL="283464" indent="-283464">
              <a:spcBef>
                <a:spcPts val="1000"/>
              </a:spcBef>
              <a:defRPr lang="de-DE" sz="1800"/>
            </a:lvl4pPr>
            <a:lvl5pPr marL="283464"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de-DE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de-DE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de-DE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/>
            </a:lvl1pPr>
            <a:lvl2pPr indent="-283464">
              <a:spcBef>
                <a:spcPts val="1000"/>
              </a:spcBef>
              <a:defRPr lang="de-DE" sz="1800"/>
            </a:lvl2pPr>
            <a:lvl3pPr indent="-283464">
              <a:spcBef>
                <a:spcPts val="1000"/>
              </a:spcBef>
              <a:defRPr lang="de-DE" sz="1800"/>
            </a:lvl3pPr>
            <a:lvl4pPr indent="-283464">
              <a:spcBef>
                <a:spcPts val="1000"/>
              </a:spcBef>
              <a:defRPr lang="de-DE" sz="1800"/>
            </a:lvl4pPr>
            <a:lvl5pPr indent="-283464"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1" name="Bildplatzhalt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de-DE" sz="1800"/>
            </a:lvl1pPr>
          </a:lstStyle>
          <a:p>
            <a:pPr lvl="0" rtl="0"/>
            <a:r>
              <a:rPr lang="de-DE"/>
              <a:t>Klicken, um Bild hinzuzufügen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ihandform: Form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/>
            </a:p>
          </p:txBody>
        </p:sp>
        <p:sp>
          <p:nvSpPr>
            <p:cNvPr id="21" name="Freihandform: Form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2" name="Freihandform: Form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3" name="Bild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44" name="Foliennummernplatzhalt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6" name="Bild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4" name="Freihand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21" name="Bild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ihand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de-DE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de-DE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de-DE" sz="2400"/>
            </a:lvl3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/>
          </a:p>
        </p:txBody>
      </p:sp>
      <p:sp>
        <p:nvSpPr>
          <p:cNvPr id="10" name="Freihand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Bild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Textplatzhalt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1800"/>
            </a:lvl1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de-DE" sz="1800"/>
            </a:lvl1pPr>
            <a:lvl2pPr>
              <a:defRPr lang="de-DE" sz="1800"/>
            </a:lvl2pPr>
            <a:lvl3pPr>
              <a:defRPr lang="de-DE" sz="1800"/>
            </a:lvl3pPr>
            <a:lvl4pPr>
              <a:defRPr lang="de-DE" sz="1800"/>
            </a:lvl4pPr>
            <a:lvl5pPr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Foliennummernplatzhalt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fik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de-DE" sz="3600" b="1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9" name="Freihand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7" name="Foliennummernplatzhalt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Bild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eitach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sz="450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de-DE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de-DE" sz="1800"/>
            </a:lvl1pPr>
            <a:lvl2pPr>
              <a:spcBef>
                <a:spcPts val="1000"/>
              </a:spcBef>
              <a:defRPr lang="de-DE" sz="1800"/>
            </a:lvl2pPr>
            <a:lvl3pPr>
              <a:spcBef>
                <a:spcPts val="1000"/>
              </a:spcBef>
              <a:defRPr lang="de-DE" sz="1800"/>
            </a:lvl3pPr>
            <a:lvl4pPr>
              <a:spcBef>
                <a:spcPts val="1000"/>
              </a:spcBef>
              <a:defRPr lang="de-DE" sz="1800"/>
            </a:lvl4pPr>
            <a:lvl5pPr>
              <a:spcBef>
                <a:spcPts val="1000"/>
              </a:spcBef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Foliennummernplatzhalt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de-DE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pic>
        <p:nvPicPr>
          <p:cNvPr id="9" name="Bild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de-DE" sz="2400"/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ihandform: Form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de-DE"/>
            </a:def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de-DE" sz="3200"/>
            </a:lvl1pPr>
            <a:lvl2pPr>
              <a:defRPr lang="de-DE" sz="2800"/>
            </a:lvl2pPr>
            <a:lvl3pPr>
              <a:defRPr lang="de-DE" sz="2400"/>
            </a:lvl3pPr>
            <a:lvl4pPr>
              <a:defRPr lang="de-DE" sz="2000"/>
            </a:lvl4pPr>
            <a:lvl5pPr>
              <a:defRPr lang="de-DE" sz="2000"/>
            </a:lvl5pPr>
            <a:lvl6pPr>
              <a:defRPr lang="de-DE" sz="2000"/>
            </a:lvl6pPr>
            <a:lvl7pPr>
              <a:defRPr lang="de-DE" sz="2000"/>
            </a:lvl7pPr>
            <a:lvl8pPr>
              <a:defRPr lang="de-DE" sz="2000"/>
            </a:lvl8pPr>
            <a:lvl9pPr>
              <a:defRPr lang="de-DE" sz="2000"/>
            </a:lvl9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de-DE" sz="32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de-DE">
                <a:latin typeface="+mn-lt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de-DE" sz="1600"/>
            </a:lvl1pPr>
            <a:lvl2pPr marL="457200" indent="0">
              <a:buNone/>
              <a:defRPr lang="de-DE" sz="1400"/>
            </a:lvl2pPr>
            <a:lvl3pPr marL="914400" indent="0">
              <a:buNone/>
              <a:defRPr lang="de-DE" sz="1200"/>
            </a:lvl3pPr>
            <a:lvl4pPr marL="1371600" indent="0">
              <a:buNone/>
              <a:defRPr lang="de-DE" sz="1000"/>
            </a:lvl4pPr>
            <a:lvl5pPr marL="1828800" indent="0">
              <a:buNone/>
              <a:defRPr lang="de-DE" sz="1000"/>
            </a:lvl5pPr>
            <a:lvl6pPr marL="2286000" indent="0">
              <a:buNone/>
              <a:defRPr lang="de-DE" sz="1000"/>
            </a:lvl6pPr>
            <a:lvl7pPr marL="2743200" indent="0">
              <a:buNone/>
              <a:defRPr lang="de-DE" sz="1000"/>
            </a:lvl7pPr>
            <a:lvl8pPr marL="3200400" indent="0">
              <a:buNone/>
              <a:defRPr lang="de-DE" sz="1000"/>
            </a:lvl8pPr>
            <a:lvl9pPr marL="3657600" indent="0">
              <a:buNone/>
              <a:defRPr lang="de-DE" sz="1000"/>
            </a:lvl9pPr>
          </a:lstStyle>
          <a:p>
            <a:pPr lvl="0" rtl="0"/>
            <a:r>
              <a:rPr lang="de-DE"/>
              <a:t>Klicken Sie, um Text hinzuzufügen.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de-DE" sz="2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Klicken, um Bild hinzuzufügen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de-DE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de-DE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de-DE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2931" y="810227"/>
            <a:ext cx="5746140" cy="3831221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Einfache Präsentation</a:t>
            </a: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Einführung</a:t>
            </a:r>
          </a:p>
          <a:p>
            <a:pPr rtl="0"/>
            <a:r>
              <a:rPr lang="de-DE"/>
              <a:t>Vertrauen aufbauen</a:t>
            </a:r>
          </a:p>
          <a:p>
            <a:pPr rtl="0"/>
            <a:r>
              <a:rPr lang="de-DE"/>
              <a:t>Einbindung des Publikums</a:t>
            </a:r>
          </a:p>
          <a:p>
            <a:pPr rtl="0"/>
            <a:r>
              <a:rPr lang="de-DE"/>
              <a:t>Visuelle Hilfen</a:t>
            </a:r>
          </a:p>
          <a:p>
            <a:pPr rtl="0"/>
            <a:r>
              <a:rPr lang="de-DE"/>
              <a:t>Letzte Tipps und Erkenntnisse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061623"/>
            <a:ext cx="5723586" cy="473910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Macht der Kommunikation</a:t>
            </a:r>
          </a:p>
        </p:txBody>
      </p:sp>
      <p:pic>
        <p:nvPicPr>
          <p:cNvPr id="7" name="Bildplatzhalter 6" descr="Eine Person, die vor einem Whiteboard steht">
            <a:extLst>
              <a:ext uri="{FF2B5EF4-FFF2-40B4-BE49-F238E27FC236}">
                <a16:creationId xmlns:a16="http://schemas.microsoft.com/office/drawing/2014/main" id="{DD186EAB-37C7-E7E6-AE8D-F077D02804F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27208" r="27208"/>
          <a:stretch/>
        </p:blipFill>
        <p:spPr>
          <a:xfrm>
            <a:off x="443345" y="0"/>
            <a:ext cx="4344695" cy="6359525"/>
          </a:xfrm>
        </p:spPr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5"/>
            <a:ext cx="5259554" cy="249502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Nervosität überwinden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808750"/>
            <a:ext cx="5259554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Strategien zur Vertrauensbildung</a:t>
            </a:r>
          </a:p>
        </p:txBody>
      </p:sp>
      <p:pic>
        <p:nvPicPr>
          <p:cNvPr id="6" name="Bildplatzhalter 5" descr="Eine Person, die ein Mikrofon hält und vor einer Gruppe von Personen steht">
            <a:extLst>
              <a:ext uri="{FF2B5EF4-FFF2-40B4-BE49-F238E27FC236}">
                <a16:creationId xmlns:a16="http://schemas.microsoft.com/office/drawing/2014/main" id="{FECDA901-DD88-89EB-E10E-A2994D0A92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l="27745" r="27745"/>
          <a:stretch/>
        </p:blipFill>
        <p:spPr>
          <a:xfrm>
            <a:off x="7414194" y="410780"/>
            <a:ext cx="4344695" cy="6447220"/>
          </a:xfrm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Einbindung des Publikums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303029"/>
            <a:ext cx="7965460" cy="3497698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Stellen Sie Augenkontakt mit Ihrem Publikum her, um ein Gefühl von Vertrautheit und Beteiligung zu erzeugen.</a:t>
            </a:r>
          </a:p>
          <a:p>
            <a:pPr rtl="0"/>
            <a:r>
              <a:rPr lang="de-DE"/>
              <a:t>Binden Sie glaubwürdige Geschichten in Ihre Präsentation ein und verwenden Sie Erzählungen, die Ihre Botschaft einprägsam und überzeugend machen.</a:t>
            </a:r>
          </a:p>
          <a:p>
            <a:pPr rtl="0"/>
            <a:r>
              <a:rPr lang="de-DE"/>
              <a:t>Ermutigen Sie zu Fragen und geben Sie durchdachte Antworten, um die Beteiligung des Publikums zu fördern.</a:t>
            </a:r>
          </a:p>
          <a:p>
            <a:pPr rtl="0"/>
            <a:r>
              <a:rPr lang="de-DE"/>
              <a:t>Verwenden Sie Live-Abstimmungen oder Umfragen, um die Meinung des Publikums einzuholen, das Engagement zu fördern und dafür zu sorgen, dass sich das Publikum einbezogen fühlt.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5161746" cy="25202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Auswählen visueller Hilfen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Verbessern Ihrer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Effektive Präsentationstechniken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16" name="Inhaltsplatzhalt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Dies ist ein mächtiges Werkzeug beim öffentlichen Reden. Dabei werden Tonhöhe, Tonfall und Lautstärke variiert, um Emotionen zu vermitteln, Punkte zu betonen und das Interesse aufrechtzuerhalten. </a:t>
            </a:r>
          </a:p>
          <a:p>
            <a:pPr lvl="1" rtl="0"/>
            <a:r>
              <a:rPr lang="de-DE" dirty="0"/>
              <a:t>Tonhöhenvariation</a:t>
            </a:r>
          </a:p>
          <a:p>
            <a:pPr lvl="1" rtl="0"/>
            <a:r>
              <a:rPr lang="de-DE" dirty="0"/>
              <a:t>Tonfall</a:t>
            </a:r>
          </a:p>
          <a:p>
            <a:pPr lvl="1" rtl="0"/>
            <a:r>
              <a:rPr lang="de-DE" dirty="0"/>
              <a:t>Lautstärkeregelung</a:t>
            </a:r>
          </a:p>
        </p:txBody>
      </p:sp>
      <p:sp>
        <p:nvSpPr>
          <p:cNvPr id="17" name="Inhaltsplatzhalt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643384" cy="3720337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Eine wirkungsvolle Körpersprache unterstreicht Ihre Botschaft und macht sie eindrucksvoller und einprägsamer.</a:t>
            </a:r>
          </a:p>
          <a:p>
            <a:pPr lvl="1" rtl="0"/>
            <a:r>
              <a:rPr lang="de-DE" dirty="0"/>
              <a:t>Aussagekräftiger Augenkontakt</a:t>
            </a:r>
          </a:p>
          <a:p>
            <a:pPr lvl="1" rtl="0"/>
            <a:r>
              <a:rPr lang="de-DE" dirty="0"/>
              <a:t>Gezielte Gesten</a:t>
            </a:r>
          </a:p>
          <a:p>
            <a:pPr lvl="1" rtl="0"/>
            <a:r>
              <a:rPr lang="de-DE" dirty="0"/>
              <a:t>Gute Körperhaltung beibehalten</a:t>
            </a:r>
          </a:p>
          <a:p>
            <a:pPr lvl="1" rtl="0"/>
            <a:r>
              <a:rPr lang="de-DE" dirty="0"/>
              <a:t>Kontrollieren Ihrer Ausdrucksweise</a:t>
            </a:r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1" y="965393"/>
            <a:ext cx="7725746" cy="109162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NAVIGIEREN IN FRAGE-UND-ANTWORT-SITZUNGEN</a:t>
            </a:r>
          </a:p>
        </p:txBody>
      </p:sp>
      <p:sp>
        <p:nvSpPr>
          <p:cNvPr id="14" name="Inhaltsplatzhalt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399" y="2303463"/>
            <a:ext cx="3666931" cy="414337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Um Selbstvertrauen und Autorität auszudrücken, ist es wichtig, während der Frage-und-Antwort-Runde Gelassenheit zu bewahren. Beachten Sie die folgenden Tipps, um gelassen zu bleiben:</a:t>
            </a:r>
          </a:p>
          <a:p>
            <a:pPr rtl="0"/>
            <a:r>
              <a:rPr lang="de-DE" dirty="0"/>
              <a:t>Ruhig bleiben</a:t>
            </a:r>
          </a:p>
          <a:p>
            <a:pPr rtl="0"/>
            <a:r>
              <a:rPr lang="de-DE" dirty="0"/>
              <a:t>Aktiv zuhören</a:t>
            </a:r>
          </a:p>
          <a:p>
            <a:pPr rtl="0"/>
            <a:r>
              <a:rPr lang="de-DE" dirty="0"/>
              <a:t>Innehalten und nachdenken</a:t>
            </a:r>
          </a:p>
          <a:p>
            <a:pPr rtl="0"/>
            <a:r>
              <a:rPr lang="de-DE" dirty="0"/>
              <a:t>Augenkontakt beibehalten</a:t>
            </a:r>
          </a:p>
        </p:txBody>
      </p:sp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58AC0C8B-8A7A-9FAE-2D0F-4D1C3A8C3F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81550" y="2303463"/>
            <a:ext cx="3763963" cy="41433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Machen Sie sich im Voraus mit Ihrem Material vertraut. Antizipieren Sie häufige Fragen und üben Sie Ihre Antworten.</a:t>
            </a:r>
          </a:p>
        </p:txBody>
      </p:sp>
      <p:pic>
        <p:nvPicPr>
          <p:cNvPr id="10" name="Bildplatzhalter 9" descr="Eine Person mit blauem Anzug und Kopfhörern, die auf einen Computer zeigt">
            <a:extLst>
              <a:ext uri="{FF2B5EF4-FFF2-40B4-BE49-F238E27FC236}">
                <a16:creationId xmlns:a16="http://schemas.microsoft.com/office/drawing/2014/main" id="{DD0A0899-5B02-CEB5-E5DD-448B169C23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31888" r="31888"/>
          <a:stretch/>
        </p:blipFill>
        <p:spPr>
          <a:xfrm>
            <a:off x="8989454" y="965393"/>
            <a:ext cx="3202545" cy="5892607"/>
          </a:xfr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Wirkung der Rede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372181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Ihre Fähigkeit, effektiv zu kommunizieren, wird einen bleibenden Eindruck bei Ihrem Publikum hinterlassen.</a:t>
            </a:r>
          </a:p>
          <a:p>
            <a:pPr rtl="0"/>
            <a:endParaRPr lang="de-DE" dirty="0"/>
          </a:p>
          <a:p>
            <a:pPr rtl="0"/>
            <a:r>
              <a:rPr lang="de-DE" dirty="0"/>
              <a:t>Zu einer effektiven Kommunikation gehört nicht nur die Übermittlung einer Botschaft, sondern auch die Auseinandersetzung mit den Erfahrungen, Werten und Emotionen der Zuhörer. </a:t>
            </a:r>
          </a:p>
        </p:txBody>
      </p:sp>
      <p:pic>
        <p:nvPicPr>
          <p:cNvPr id="7" name="Bildplatzhalter 6" descr="Eine Person, die eine Brille und ein blaues Hemd trägt">
            <a:extLst>
              <a:ext uri="{FF2B5EF4-FFF2-40B4-BE49-F238E27FC236}">
                <a16:creationId xmlns:a16="http://schemas.microsoft.com/office/drawing/2014/main" id="{C570EB79-053B-0283-9D2D-6266701EEDD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 l="19088" r="19088"/>
          <a:stretch/>
        </p:blipFill>
        <p:spPr>
          <a:xfrm>
            <a:off x="8989454" y="3405189"/>
            <a:ext cx="3202546" cy="3452811"/>
          </a:xfrm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Dynamischer Vortrag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4" y="2331958"/>
            <a:ext cx="2975217" cy="370426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Erfahren Sie, wie Sie Energie in Ihren Vortrag einfließen lassen, um einen bleibenden Eindruck zu hinterlassen.</a:t>
            </a:r>
          </a:p>
          <a:p>
            <a:pPr rtl="0"/>
            <a:r>
              <a:rPr lang="de-DE" dirty="0"/>
              <a:t>Eines der Ziele einer effektiven Kommunikation besteht darin, Ihre Zielgruppe zu motivieren.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034980823"/>
              </p:ext>
            </p:extLst>
          </p:nvPr>
        </p:nvGraphicFramePr>
        <p:xfrm>
          <a:off x="5087938" y="2332038"/>
          <a:ext cx="6621980" cy="394718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01543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1758372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1399591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Metrik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Tatsächlich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Anwesenheit des Publikums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>
                          <a:solidFill>
                            <a:schemeClr val="accent6"/>
                          </a:solidFill>
                        </a:rPr>
                        <a:t>Anzahl der Teilnehmer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Vortragsdauer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Minuten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>
                          <a:solidFill>
                            <a:schemeClr val="accent6"/>
                          </a:solidFill>
                        </a:rPr>
                        <a:t>Frage-Antwort-Interaktion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Anzahl der Fragen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606129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Positives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592559"/>
                  </a:ext>
                </a:extLst>
              </a:tr>
              <a:tr h="81126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>
                          <a:solidFill>
                            <a:schemeClr val="accent6"/>
                          </a:solidFill>
                        </a:rPr>
                        <a:t>Rate der Informationsspeicherung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>
                          <a:solidFill>
                            <a:schemeClr val="accent6"/>
                          </a:solidFill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>
                          <a:solidFill>
                            <a:schemeClr val="accent6"/>
                          </a:solidFill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6564953"/>
                  </a:ext>
                </a:extLst>
              </a:tr>
            </a:tbl>
          </a:graphicData>
        </a:graphic>
      </p:graphicFrame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Letzte Tipps und Erkenntnisse</a:t>
            </a:r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Konsequentes Üben</a:t>
            </a:r>
          </a:p>
          <a:p>
            <a:pPr lvl="1" rtl="0"/>
            <a:r>
              <a:rPr lang="de-DE" dirty="0"/>
              <a:t>Stärken Ihrer Vertrautheit</a:t>
            </a:r>
          </a:p>
          <a:p>
            <a:pPr rtl="0"/>
            <a:r>
              <a:rPr lang="de-DE" dirty="0"/>
              <a:t>Vortragsstil verfeinern</a:t>
            </a:r>
          </a:p>
          <a:p>
            <a:pPr lvl="1" rtl="0"/>
            <a:r>
              <a:rPr lang="de-DE" dirty="0"/>
              <a:t>Tempo, Tonfall und Betonung</a:t>
            </a:r>
          </a:p>
          <a:p>
            <a:pPr rtl="0"/>
            <a:r>
              <a:rPr lang="de-DE" dirty="0"/>
              <a:t>Timing und Übergänge</a:t>
            </a:r>
          </a:p>
          <a:p>
            <a:pPr lvl="1" rtl="0"/>
            <a:r>
              <a:rPr lang="de-DE" dirty="0"/>
              <a:t>Streben Sie einen nahtlosen, professionellen Vortrag an.</a:t>
            </a:r>
          </a:p>
          <a:p>
            <a:pPr rtl="0"/>
            <a:r>
              <a:rPr lang="de-DE" dirty="0"/>
              <a:t>Übungspublikum</a:t>
            </a:r>
          </a:p>
          <a:p>
            <a:pPr lvl="1" rtl="0"/>
            <a:r>
              <a:rPr lang="de-DE" dirty="0"/>
              <a:t>Bitten Sie Ihre Kollegen, zuzuhören und Feedback zu geben.</a:t>
            </a:r>
          </a:p>
        </p:txBody>
      </p:sp>
      <p:sp>
        <p:nvSpPr>
          <p:cNvPr id="13" name="Inhaltsplatzhalter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Feedback einholen</a:t>
            </a:r>
          </a:p>
          <a:p>
            <a:pPr rtl="0"/>
            <a:r>
              <a:rPr lang="de-DE" dirty="0"/>
              <a:t>Über Leistung nachdenken</a:t>
            </a:r>
          </a:p>
          <a:p>
            <a:pPr rtl="0"/>
            <a:r>
              <a:rPr lang="de-DE" dirty="0"/>
              <a:t>Erkunden neuer Techniken</a:t>
            </a:r>
          </a:p>
          <a:p>
            <a:pPr rtl="0"/>
            <a:r>
              <a:rPr lang="de-DE" dirty="0"/>
              <a:t>Persönliche Ziele festlegen</a:t>
            </a:r>
          </a:p>
          <a:p>
            <a:pPr rtl="0"/>
            <a:r>
              <a:rPr lang="de-DE" dirty="0"/>
              <a:t>Wiederholen und Anpassen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Metriken zum Einsatz von Referenten</a:t>
            </a:r>
          </a:p>
        </p:txBody>
      </p:sp>
      <p:graphicFrame>
        <p:nvGraphicFramePr>
          <p:cNvPr id="5" name="Inhaltsplatzhalt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999503228"/>
              </p:ext>
            </p:extLst>
          </p:nvPr>
        </p:nvGraphicFramePr>
        <p:xfrm>
          <a:off x="914400" y="2316163"/>
          <a:ext cx="10510836" cy="394846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</a:tblGrid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Einflussfaktor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Messung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Ziel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Erreicht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Publikumsinteraktion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Wissen bewahren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/>
                        <a:t>Umfragen nach der Präsentation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Durchschnittliche Bewertung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4,2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4,5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Empfehlungsrate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Prozentsatz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Möglichkeiten der Zusammenarbeit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Anzahl der Möglichkeiten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rtl="0"/>
                      <a:r>
                        <a:rPr lang="de-DE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</a:tbl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48F63A3B-78C7-47BE-AE5E-E10140E04643}" type="slidenum">
              <a:rPr lang="de-DE" smtClean="0"/>
              <a:pPr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2"/>
            <a:ext cx="3213716" cy="272770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Vielen Dank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Brita Tamm</a:t>
            </a:r>
          </a:p>
          <a:p>
            <a:pPr rtl="0"/>
            <a:r>
              <a:rPr lang="de-DE"/>
              <a:t>502-555-0152</a:t>
            </a:r>
          </a:p>
          <a:p>
            <a:pPr rtl="0"/>
            <a:r>
              <a:rPr lang="de-DE"/>
              <a:t>brita@firstupconsultants.com </a:t>
            </a:r>
          </a:p>
          <a:p>
            <a:pPr rtl="0"/>
            <a:r>
              <a:rPr lang="de-DE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Benutzerdefiniert 3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163559"/>
      </a:accent6>
      <a:hlink>
        <a:srgbClr val="0066FF"/>
      </a:hlink>
      <a:folHlink>
        <a:srgbClr val="66669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6_TF78438558_Win32" id="{E5260DE1-892A-45A6-87FB-B6B6CDB6D88C}" vid="{7982CA12-75BD-4F5A-9434-39D83265C9E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{0CFED32C-4F6F-42A4-8CD0-56478309B414}tf78438558_win32</Template>
  <TotalTime>0</TotalTime>
  <Words>472</Words>
  <Application>Microsoft Office PowerPoint</Application>
  <PresentationFormat>Breitbild</PresentationFormat>
  <Paragraphs>118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Arial</vt:lpstr>
      <vt:lpstr>Arial Black</vt:lpstr>
      <vt:lpstr>Calibri</vt:lpstr>
      <vt:lpstr>Sabon Next LT</vt:lpstr>
      <vt:lpstr>Benutzerdefiniert</vt:lpstr>
      <vt:lpstr>Einfache Präsentation</vt:lpstr>
      <vt:lpstr>Agenda</vt:lpstr>
      <vt:lpstr>Die Macht der Kommunikation</vt:lpstr>
      <vt:lpstr>Nervosität überwinden</vt:lpstr>
      <vt:lpstr>Einbindung des Publikums</vt:lpstr>
      <vt:lpstr>Auswählen visueller Hilfen</vt:lpstr>
      <vt:lpstr>Effektive Präsentationstechniken</vt:lpstr>
      <vt:lpstr>NAVIGIEREN IN FRAGE-UND-ANTWORT-SITZUNGEN</vt:lpstr>
      <vt:lpstr>Wirkung der Rede</vt:lpstr>
      <vt:lpstr>Dynamischer Vortrag</vt:lpstr>
      <vt:lpstr>Letzte Tipps und Erkenntnisse</vt:lpstr>
      <vt:lpstr>Metriken zum Einsatz von Referenten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Christof Prevedel</dc:creator>
  <cp:lastModifiedBy>Christof Prevedel</cp:lastModifiedBy>
  <cp:revision>1</cp:revision>
  <dcterms:created xsi:type="dcterms:W3CDTF">2025-12-10T16:00:37Z</dcterms:created>
  <dcterms:modified xsi:type="dcterms:W3CDTF">2025-12-10T16:06:27Z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