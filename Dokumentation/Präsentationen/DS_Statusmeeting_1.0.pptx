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3"/>
  </p:notesMasterIdLst>
  <p:handoutMasterIdLst>
    <p:handoutMasterId r:id="rId14"/>
  </p:handoutMasterIdLst>
  <p:sldIdLst>
    <p:sldId id="312" r:id="rId5"/>
    <p:sldId id="331" r:id="rId6"/>
    <p:sldId id="332" r:id="rId7"/>
    <p:sldId id="333" r:id="rId8"/>
    <p:sldId id="329" r:id="rId9"/>
    <p:sldId id="334" r:id="rId10"/>
    <p:sldId id="282" r:id="rId11"/>
    <p:sldId id="297" r:id="rId12"/>
  </p:sldIdLst>
  <p:sldSz cx="12192000" cy="6858000"/>
  <p:notesSz cx="13716000" cy="24384000"/>
  <p:defaultTextStyle>
    <a:defPPr rtl="0">
      <a:defRPr lang="de-DE"/>
    </a:defPPr>
    <a:lvl1pPr marL="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8EEC"/>
    <a:srgbClr val="AAC4E9"/>
    <a:srgbClr val="202C8F"/>
    <a:srgbClr val="FDFBF6"/>
    <a:srgbClr val="F5CDCE"/>
    <a:srgbClr val="DF8C8C"/>
    <a:srgbClr val="D4D593"/>
    <a:srgbClr val="E6F0FE"/>
    <a:srgbClr val="CDBE8A"/>
    <a:srgbClr val="F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5388" autoAdjust="0"/>
  </p:normalViewPr>
  <p:slideViewPr>
    <p:cSldViewPr snapToGrid="0" snapToObjects="1">
      <p:cViewPr varScale="1">
        <p:scale>
          <a:sx n="78" d="100"/>
          <a:sy n="78" d="100"/>
        </p:scale>
        <p:origin x="787" y="72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30" d="100"/>
          <a:sy n="30" d="100"/>
        </p:scale>
        <p:origin x="4368" y="5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1F194BD-2269-4EFA-851F-443B834DD978}" type="datetimeyyyy">
              <a:rPr lang="de-DE" smtClean="0"/>
              <a:t>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20BD0AB-C59E-4A46-83D3-F07787446BA0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Sehr Geehrter Herr Professor, Liebe Mitschüler,</a:t>
            </a:r>
          </a:p>
          <a:p>
            <a:pPr rtl="0"/>
            <a:r>
              <a:rPr lang="de-DE" dirty="0"/>
              <a:t>Wir von Team </a:t>
            </a:r>
            <a:r>
              <a:rPr lang="de-DE" dirty="0" err="1"/>
              <a:t>DriveSense</a:t>
            </a:r>
            <a:r>
              <a:rPr lang="de-DE" dirty="0"/>
              <a:t> freuen uns, heute den offiziellen Kickoff unseres Projekts bekanntzugeben.</a:t>
            </a:r>
            <a:br>
              <a:rPr lang="de-DE" dirty="0"/>
            </a:br>
            <a:r>
              <a:rPr lang="de-DE" dirty="0"/>
              <a:t>In unserer Präsentation werden wir Ihnen einen Einblick in unsere Zielsetzung für dieses Projekt geben sowie in das bisherige Projektmanagement.</a:t>
            </a:r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E02A6-B60D-A96B-12F1-B4D80C8F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1137953-FA38-0FF8-F058-5540E6ADDB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0AF189-2DE0-D994-1C2D-D525DB1A7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3609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bildung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ihand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ihand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4" name="Bild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de-DE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de-DE" sz="18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solidFill>
                  <a:schemeClr val="bg1"/>
                </a:solidFill>
                <a:latin typeface="+mj-lt"/>
              </a:defRPr>
            </a:lvl1pPr>
          </a:lstStyle>
          <a:p>
            <a:fld id="{48F63A3B-78C7-47BE-AE5E-E10140E04643}" type="slidenum">
              <a:rPr lang="de-AT" smtClean="0"/>
              <a:pPr/>
              <a:t>‹#›</a:t>
            </a:fld>
            <a:endParaRPr lang="de-AT" dirty="0">
              <a:solidFill>
                <a:schemeClr val="bg1"/>
              </a:solidFill>
            </a:endParaRPr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6306BBC1-E03A-F152-C703-D32EFE462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2939837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ihandform: Form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15" name="Freihandform: Form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6" name="Bild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AF0B927E-BC02-E447-1933-828E1B6F41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6817" y="68742"/>
            <a:ext cx="1745181" cy="57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36" name="Freihand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3" name="Freihand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lvl="0" algn="ctr" rtl="0"/>
            <a:endParaRPr lang="de-DE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Klicken Sie, um Text hinzuzufügen.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52" name="Bildplatzhalt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B8216B48-7C45-AA54-E614-37E99008EA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86541" y="6087444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ild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3" name="Freihandform: Form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9" name="Freihand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1" name="Freihand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3" name="Bild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Foliennummernplatzhalt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79F7BCF-BBB7-3894-91B5-A6F05CCE99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1" name="Abbildung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3" name="Bild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Bild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9" name="Bild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2DA8446-2FA0-04D7-3759-5E6ACF4779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9" name="Foliennummernplatzhalt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5" name="Inhaltsplatzhalt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FEFDD764-FA47-39CB-8417-CCF8779420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de-DE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de-DE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indent="-283464">
              <a:spcBef>
                <a:spcPts val="1000"/>
              </a:spcBef>
              <a:defRPr lang="de-DE" sz="1800"/>
            </a:lvl2pPr>
            <a:lvl3pPr indent="-283464">
              <a:spcBef>
                <a:spcPts val="1000"/>
              </a:spcBef>
              <a:defRPr lang="de-DE" sz="1800"/>
            </a:lvl3pPr>
            <a:lvl4pPr indent="-283464">
              <a:spcBef>
                <a:spcPts val="1000"/>
              </a:spcBef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ihandform: Form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21" name="Freihandform: Form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2" name="Freihandform: Form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3" name="Bild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4" name="Foliennummernplatzhalt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24F291B-73B5-9D6E-B778-5FBE95B150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12206" y="6077732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6" name="Bild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21" name="Bild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ihand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rt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430FB98-80F5-DCF9-D680-053BA670DF1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/>
          </a:p>
        </p:txBody>
      </p:sp>
      <p:sp>
        <p:nvSpPr>
          <p:cNvPr id="10" name="Freihand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Bild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Textplatzhalt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1800"/>
            </a:lvl1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de-DE" sz="1800"/>
            </a:lvl1pPr>
            <a:lvl2pPr>
              <a:defRPr lang="de-DE" sz="1800"/>
            </a:lvl2pPr>
            <a:lvl3pPr>
              <a:defRPr lang="de-DE" sz="1800"/>
            </a:lvl3pPr>
            <a:lvl4pPr>
              <a:defRPr lang="de-DE" sz="1800"/>
            </a:lvl4pPr>
            <a:lvl5pPr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581560C5-E96D-652C-7797-7E72F96EE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9" name="Freihand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7" name="Foliennummernplatzhalt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Bild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7C41091-8B52-6C57-3170-47BA143542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6E71F870-1F9B-900B-36BA-C9DF2C42C0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9" name="Bild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de-DE" sz="2400"/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A75B1080-5F71-FD7F-6C65-7E347CCA611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D1D3423-DBC5-2EBE-474C-426E356C2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6AC1E20-0A1D-46AE-38D7-2320BB282D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de-DE" sz="3200"/>
            </a:lvl1pPr>
            <a:lvl2pPr>
              <a:defRPr lang="de-DE" sz="2800"/>
            </a:lvl2pPr>
            <a:lvl3pPr>
              <a:defRPr lang="de-DE" sz="2400"/>
            </a:lvl3pPr>
            <a:lvl4pPr>
              <a:defRPr lang="de-DE" sz="2000"/>
            </a:lvl4pPr>
            <a:lvl5pPr>
              <a:defRPr lang="de-DE" sz="2000"/>
            </a:lvl5pPr>
            <a:lvl6pPr>
              <a:defRPr lang="de-DE" sz="2000"/>
            </a:lvl6pPr>
            <a:lvl7pPr>
              <a:defRPr lang="de-DE" sz="2000"/>
            </a:lvl7pPr>
            <a:lvl8pPr>
              <a:defRPr lang="de-DE" sz="2000"/>
            </a:lvl8pPr>
            <a:lvl9pPr>
              <a:defRPr lang="de-DE" sz="2000"/>
            </a:lvl9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4E5B82D-B1AC-F3BC-125D-604F4F0A8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de-DE" sz="2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Klicken, um Bild hinzuzufügen</a:t>
            </a:r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3427751-8C60-2CD1-EA60-D68B65CB7A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de-DE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089655DC-22F6-2498-D15B-D48FF011B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930" y="741582"/>
            <a:ext cx="5746140" cy="18966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33F5856-E949-3554-0594-6ECE332EB90C}"/>
              </a:ext>
            </a:extLst>
          </p:cNvPr>
          <p:cNvSpPr txBox="1"/>
          <p:nvPr/>
        </p:nvSpPr>
        <p:spPr>
          <a:xfrm>
            <a:off x="4191000" y="2827866"/>
            <a:ext cx="52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solidFill>
                  <a:srgbClr val="388EEC"/>
                </a:solidFill>
              </a:rPr>
              <a:t>Status-Meeting</a:t>
            </a:r>
            <a:endParaRPr lang="de-AT" sz="2800" b="1" dirty="0">
              <a:solidFill>
                <a:srgbClr val="388EEC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873F719-C6B8-CB7E-FB2B-10DD626570B1}"/>
              </a:ext>
            </a:extLst>
          </p:cNvPr>
          <p:cNvSpPr txBox="1"/>
          <p:nvPr/>
        </p:nvSpPr>
        <p:spPr>
          <a:xfrm>
            <a:off x="6449352" y="3435664"/>
            <a:ext cx="1405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AT" sz="1600" dirty="0">
                <a:solidFill>
                  <a:srgbClr val="388EEC"/>
                </a:solidFill>
              </a:rPr>
              <a:t>12.04.2026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2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Projektstatus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/>
              <a:t>Backend (Java/Spring): </a:t>
            </a:r>
            <a:r>
              <a:rPr lang="de-DE" dirty="0"/>
              <a:t>JWT-Auth, CRUD-Endpunkte, Security, </a:t>
            </a:r>
            <a:r>
              <a:rPr lang="de-DE" dirty="0" err="1"/>
              <a:t>Exception</a:t>
            </a:r>
            <a:r>
              <a:rPr lang="de-DE" dirty="0"/>
              <a:t> Handling, PDF-Export – fertig</a:t>
            </a:r>
          </a:p>
          <a:p>
            <a:r>
              <a:rPr lang="de-DE" b="1" dirty="0"/>
              <a:t>Datenbank (MySQL): </a:t>
            </a:r>
            <a:r>
              <a:rPr lang="de-DE" dirty="0"/>
              <a:t>account, profile, trip, trackingpoint, vehicle, protocol, </a:t>
            </a:r>
            <a:r>
              <a:rPr lang="de-DE" dirty="0" err="1"/>
              <a:t>usergroup</a:t>
            </a:r>
            <a:r>
              <a:rPr lang="de-DE" dirty="0"/>
              <a:t> – </a:t>
            </a:r>
            <a:r>
              <a:rPr lang="de-DE" dirty="0" err="1"/>
              <a:t>ferig</a:t>
            </a:r>
            <a:endParaRPr lang="de-DE" dirty="0"/>
          </a:p>
          <a:p>
            <a:r>
              <a:rPr lang="de-DE" b="1" dirty="0"/>
              <a:t>Externe APIs: </a:t>
            </a:r>
            <a:r>
              <a:rPr lang="de-DE" dirty="0"/>
              <a:t>Open-Meteo (Wetter) + Geocoding angebunden</a:t>
            </a:r>
          </a:p>
          <a:p>
            <a:r>
              <a:rPr lang="de-DE" b="1" dirty="0"/>
              <a:t>WebApp (React/TS): </a:t>
            </a:r>
            <a:r>
              <a:rPr lang="de-DE" dirty="0"/>
              <a:t>Registrierung + Login, Fahrtenanzeige, Dashboard, Fahrzeugübersicht – fertig</a:t>
            </a:r>
          </a:p>
          <a:p>
            <a:r>
              <a:rPr lang="de-DE" dirty="0"/>
              <a:t>Protokollansicht, Detailansicht – in Arbeit</a:t>
            </a:r>
          </a:p>
          <a:p>
            <a:r>
              <a:rPr lang="de-DE" b="1" dirty="0"/>
              <a:t>Mobile App (Flutter/Dart): </a:t>
            </a:r>
            <a:r>
              <a:rPr lang="de-DE" dirty="0"/>
              <a:t>GPS-Tracking Grundgerüst + Fahrten speichern, Registrierung + Login – fertig</a:t>
            </a:r>
            <a:br>
              <a:rPr lang="de-DE" dirty="0"/>
            </a:br>
            <a:r>
              <a:rPr lang="de-DE" dirty="0"/>
              <a:t>Detailansicht + Protokollausfüllung – in Arbeit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3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Fortschritt &amp; erledigte Aufgaben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6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Vollständiges JWT-System (accountToken, profileToken, refreshToken)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Rollen-System im Token (Privat, Beruflich, Fahrschüler)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Globales Exception Handling mit strukturierten Fehlermeldungen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WebApp</a:t>
            </a:r>
            <a:r>
              <a:rPr lang="de-DE" b="1" dirty="0"/>
              <a:t>: </a:t>
            </a:r>
            <a:r>
              <a:rPr lang="de-DE" dirty="0"/>
              <a:t>Fahrten- und Fahrzeugtabelle laden Daten vom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WebApp</a:t>
            </a:r>
            <a:r>
              <a:rPr lang="de-DE" b="1" dirty="0"/>
              <a:t>: </a:t>
            </a:r>
            <a:r>
              <a:rPr lang="de-DE" dirty="0"/>
              <a:t>Google Maps Kartenansicht integriert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WebApp</a:t>
            </a:r>
            <a:r>
              <a:rPr lang="de-DE" b="1" dirty="0"/>
              <a:t>: </a:t>
            </a:r>
            <a:r>
              <a:rPr lang="de-DE" dirty="0"/>
              <a:t>Auth-Flow (Login → Profilauswahl → Dashboard)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Registrierung und Login</a:t>
            </a:r>
            <a:endParaRPr lang="de-DE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Grundgerüst für Benutzeroberfläche aufgesetzt</a:t>
            </a:r>
            <a:endParaRPr lang="de-DE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GPS-Tracking und Speichern von Fahrten implementiert + lokaler Zwischenspeicherung</a:t>
            </a:r>
            <a:endParaRPr lang="de-DE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4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Offene Punkte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700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WebApp</a:t>
            </a:r>
            <a:r>
              <a:rPr lang="de-DE" b="1" dirty="0"/>
              <a:t> &amp; Mobile App: </a:t>
            </a:r>
            <a:r>
              <a:rPr lang="de-DE" dirty="0"/>
              <a:t>Fahrtendetailseite mit Karte und Trackingpoints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WebApp</a:t>
            </a:r>
            <a:r>
              <a:rPr lang="de-DE" b="1" dirty="0"/>
              <a:t> &amp; Mobile App: </a:t>
            </a:r>
            <a:r>
              <a:rPr lang="de-DE" dirty="0"/>
              <a:t>Einstellungsseite (Passwort ändern, Profil wechseln)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GPS-Aufzeichnung optimieren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Automatisches Ausfüllen des Protokolls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Profilauswahl &amp; Erstellen von Profilen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Allgemein: </a:t>
            </a:r>
            <a:r>
              <a:rPr lang="de-DE" dirty="0"/>
              <a:t>Gruppenprotokolle (Haushalte)</a:t>
            </a:r>
            <a:endParaRPr lang="de-DE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Allgemein: </a:t>
            </a:r>
            <a:r>
              <a:rPr lang="de-DE" dirty="0"/>
              <a:t>Spezifische Protokolle nach Profiltyp</a:t>
            </a:r>
            <a:endParaRPr lang="de-DE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Allgemein: </a:t>
            </a:r>
            <a:r>
              <a:rPr lang="de-DE" dirty="0"/>
              <a:t>End-to-End Test: Mobile App → Backend → WebApp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7CD78-5D3B-BFB4-D0F3-4A43A998E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4766815-D541-928A-8710-3BA77F469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5</a:t>
            </a:fld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763DB3E-7AE1-48DD-8469-8816568E1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123" y="773112"/>
            <a:ext cx="5257800" cy="56832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4000" dirty="0"/>
              <a:t>Meilensteine</a:t>
            </a:r>
            <a:endParaRPr lang="de-DE" dirty="0"/>
          </a:p>
        </p:txBody>
      </p:sp>
      <p:sp>
        <p:nvSpPr>
          <p:cNvPr id="11" name="Inhaltsplatzhalter 3">
            <a:extLst>
              <a:ext uri="{FF2B5EF4-FFF2-40B4-BE49-F238E27FC236}">
                <a16:creationId xmlns:a16="http://schemas.microsoft.com/office/drawing/2014/main" id="{8EA2A2CE-06E0-C1BE-D0A6-E73C9BE634C1}"/>
              </a:ext>
            </a:extLst>
          </p:cNvPr>
          <p:cNvSpPr txBox="1">
            <a:spLocks/>
          </p:cNvSpPr>
          <p:nvPr/>
        </p:nvSpPr>
        <p:spPr>
          <a:xfrm>
            <a:off x="824594" y="2205936"/>
            <a:ext cx="11367406" cy="3886732"/>
          </a:xfrm>
          <a:prstGeom prst="rect">
            <a:avLst/>
          </a:prstGeom>
        </p:spPr>
        <p:txBody>
          <a:bodyPr rtlCol="0">
            <a:normAutofit fontScale="92500"/>
          </a:bodyPr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Aft>
                <a:spcPts val="1200"/>
              </a:spcAft>
            </a:pPr>
            <a:r>
              <a:rPr lang="de-DE" b="1" dirty="0"/>
              <a:t>M1</a:t>
            </a:r>
            <a:r>
              <a:rPr lang="de-DE" dirty="0"/>
              <a:t>: Kickoff-Meeting – 11.12.2025 </a:t>
            </a:r>
            <a:r>
              <a:rPr lang="de-AT" dirty="0"/>
              <a:t>✓</a:t>
            </a:r>
            <a:endParaRPr lang="de-DE" dirty="0"/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M2</a:t>
            </a:r>
            <a:r>
              <a:rPr lang="de-DE" dirty="0"/>
              <a:t>: Prototypen für Frontend, APIs (GPS, Wetter) – 26.01.2026 </a:t>
            </a:r>
            <a:r>
              <a:rPr lang="de-AT" dirty="0"/>
              <a:t>✓</a:t>
            </a:r>
            <a:endParaRPr lang="de-DE" dirty="0"/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M3</a:t>
            </a:r>
            <a:r>
              <a:rPr lang="de-DE" dirty="0"/>
              <a:t>: Backend mit Datenbank, Kommunikation zu Frontend – 12.03.2026 </a:t>
            </a:r>
            <a:r>
              <a:rPr lang="de-AT" dirty="0"/>
              <a:t>✓</a:t>
            </a:r>
            <a:endParaRPr lang="de-DE" dirty="0"/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M4</a:t>
            </a:r>
            <a:r>
              <a:rPr lang="de-DE" dirty="0"/>
              <a:t>: Automatische Protokollerstellung und Export, Konto-Arten – 20.04.2026 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M5</a:t>
            </a:r>
            <a:r>
              <a:rPr lang="de-DE" dirty="0"/>
              <a:t>: Finales Frontend Design – 28.05.2026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M6</a:t>
            </a:r>
            <a:r>
              <a:rPr lang="de-DE" dirty="0"/>
              <a:t>: Abschluss – 15.06.2026</a:t>
            </a:r>
          </a:p>
          <a:p>
            <a:pPr marL="342900" indent="-34290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7392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6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Nächste Schritte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M4 </a:t>
            </a:r>
            <a:r>
              <a:rPr lang="de-DE" dirty="0"/>
              <a:t>abschließen</a:t>
            </a:r>
            <a:r>
              <a:rPr lang="de-DE" b="1" dirty="0"/>
              <a:t>: </a:t>
            </a:r>
            <a:r>
              <a:rPr lang="de-DE" dirty="0"/>
              <a:t>PDF-Export, Protokollerstellung, Konto-Arten (Ziel: 20.04.2026)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Ausfüllen aller Felder nach Speichern der Fahrt + Detailansicht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Testing: </a:t>
            </a:r>
            <a:r>
              <a:rPr lang="de-DE" dirty="0"/>
              <a:t>End-to-End: Mobile App → GPS → Backend → </a:t>
            </a:r>
            <a:r>
              <a:rPr lang="de-DE" dirty="0" err="1"/>
              <a:t>WebApp</a:t>
            </a:r>
            <a:endParaRPr lang="de-DE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4" y="431606"/>
            <a:ext cx="7965461" cy="99416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Risiken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1769629"/>
            <a:ext cx="7965460" cy="259104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>
              <a:spcAft>
                <a:spcPts val="600"/>
              </a:spcAft>
            </a:pPr>
            <a:r>
              <a:rPr lang="de-DE" sz="2000" b="1" dirty="0"/>
              <a:t>Datenverlust: </a:t>
            </a:r>
            <a:r>
              <a:rPr lang="de-DE" sz="2000" dirty="0"/>
              <a:t>Besteht beim Beenden der Fahrt keine Verbindung zum Internet muss lokal zwischengespeichert werden</a:t>
            </a:r>
          </a:p>
          <a:p>
            <a:pPr rtl="0">
              <a:spcAft>
                <a:spcPts val="600"/>
              </a:spcAft>
            </a:pPr>
            <a:r>
              <a:rPr lang="de-DE" sz="2000" b="1" dirty="0"/>
              <a:t>GPS-Ungenauigkeiten: </a:t>
            </a:r>
            <a:r>
              <a:rPr lang="de-DE" sz="2000" dirty="0"/>
              <a:t>Einzelne Trackpunkte müssen auf Ungenauigkeit geprüft und gefiltert werden</a:t>
            </a:r>
          </a:p>
          <a:p>
            <a:pPr rtl="0">
              <a:spcAft>
                <a:spcPts val="600"/>
              </a:spcAft>
            </a:pPr>
            <a:r>
              <a:rPr lang="de-DE" sz="2000" b="1" dirty="0"/>
              <a:t>Performance: </a:t>
            </a:r>
            <a:r>
              <a:rPr lang="de-DE" sz="2000" dirty="0"/>
              <a:t>Vorheriger Punkt könnte vor allem bei älteren Geräten zu Performance-Problemen und hohem Akku-Verbrauch führen</a:t>
            </a:r>
            <a:endParaRPr lang="de-DE" sz="2000" b="1" dirty="0"/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7</a:t>
            </a:fld>
            <a:endParaRPr lang="de-DE" dirty="0"/>
          </a:p>
        </p:txBody>
      </p:sp>
      <p:pic>
        <p:nvPicPr>
          <p:cNvPr id="5" name="Grafik 4" descr="Warnung mit einfarbiger Füllung">
            <a:extLst>
              <a:ext uri="{FF2B5EF4-FFF2-40B4-BE49-F238E27FC236}">
                <a16:creationId xmlns:a16="http://schemas.microsoft.com/office/drawing/2014/main" id="{C048610D-2AF2-3587-C0AE-29AB2A0660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7225" y="4857752"/>
            <a:ext cx="1152527" cy="1152527"/>
          </a:xfrm>
          <a:prstGeom prst="rect">
            <a:avLst/>
          </a:prstGeom>
        </p:spPr>
      </p:pic>
      <p:pic>
        <p:nvPicPr>
          <p:cNvPr id="7" name="Grafik 6" descr="Martinshorn mit einfarbiger Füllung">
            <a:extLst>
              <a:ext uri="{FF2B5EF4-FFF2-40B4-BE49-F238E27FC236}">
                <a16:creationId xmlns:a16="http://schemas.microsoft.com/office/drawing/2014/main" id="{1964C23B-A4EB-0A1A-D848-1554F18067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5673" y="4857751"/>
            <a:ext cx="1152527" cy="11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49782"/>
            <a:ext cx="4455885" cy="272770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Vielen Dank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enutzerdefiniert">
  <a:themeElements>
    <a:clrScheme name="Benutzerdefiniert 3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163559"/>
      </a:accent6>
      <a:hlink>
        <a:srgbClr val="0066FF"/>
      </a:hlink>
      <a:folHlink>
        <a:srgbClr val="66669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6_TF78438558_Win32" id="{E5260DE1-892A-45A6-87FB-B6B6CDB6D88C}" vid="{7982CA12-75BD-4F5A-9434-39D83265C9E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{0CFED32C-4F6F-42A4-8CD0-56478309B414}tf78438558_win32</Template>
  <TotalTime>0</TotalTime>
  <Words>442</Words>
  <Application>Microsoft Office PowerPoint</Application>
  <PresentationFormat>Widescreen</PresentationFormat>
  <Paragraphs>52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Arial Black</vt:lpstr>
      <vt:lpstr>Calibri</vt:lpstr>
      <vt:lpstr>Sabon Next LT</vt:lpstr>
      <vt:lpstr>Benutzerdefiniert</vt:lpstr>
      <vt:lpstr>PowerPoint Presentation</vt:lpstr>
      <vt:lpstr>Projektstatus</vt:lpstr>
      <vt:lpstr>Fortschritt &amp; erledigte Aufgaben</vt:lpstr>
      <vt:lpstr>Offene Punkte</vt:lpstr>
      <vt:lpstr>Meilensteine</vt:lpstr>
      <vt:lpstr>Nächste Schritte</vt:lpstr>
      <vt:lpstr>Risiken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Christof Prevedel</dc:creator>
  <cp:lastModifiedBy>Eric H</cp:lastModifiedBy>
  <cp:revision>15</cp:revision>
  <dcterms:created xsi:type="dcterms:W3CDTF">2025-12-10T16:00:37Z</dcterms:created>
  <dcterms:modified xsi:type="dcterms:W3CDTF">2026-04-12T20:23:30Z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