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30" r:id="rId6"/>
    <p:sldId id="331" r:id="rId7"/>
    <p:sldId id="323" r:id="rId8"/>
    <p:sldId id="329" r:id="rId9"/>
    <p:sldId id="282" r:id="rId10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8EEC"/>
    <a:srgbClr val="AAC4E9"/>
    <a:srgbClr val="202C8F"/>
    <a:srgbClr val="FDFBF6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1" autoAdjust="0"/>
    <p:restoredTop sz="95388" autoAdjust="0"/>
  </p:normalViewPr>
  <p:slideViewPr>
    <p:cSldViewPr snapToGrid="0" snapToObjects="1">
      <p:cViewPr varScale="1">
        <p:scale>
          <a:sx n="111" d="100"/>
          <a:sy n="111" d="100"/>
        </p:scale>
        <p:origin x="630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368" y="5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Sehr Geehrter Herr Professor, Liebe Mitschüler,</a:t>
            </a:r>
          </a:p>
          <a:p>
            <a:pPr rtl="0"/>
            <a:r>
              <a:rPr lang="de-DE" dirty="0"/>
              <a:t>Wir von Team </a:t>
            </a:r>
            <a:r>
              <a:rPr lang="de-DE" dirty="0" err="1"/>
              <a:t>DriveSense</a:t>
            </a:r>
            <a:r>
              <a:rPr lang="de-DE" dirty="0"/>
              <a:t> freuen uns, heute den offiziellen Kickoff unseres Projekts bekanntzugeben.</a:t>
            </a:r>
            <a:br>
              <a:rPr lang="de-DE" dirty="0"/>
            </a:br>
            <a:r>
              <a:rPr lang="de-DE" dirty="0"/>
              <a:t>In unserer Präsentation werden wir Ihnen einen Einblick in unsere Zielsetzung für dieses Projekt geben sowie in das bisherige Projektmanagement.</a:t>
            </a:r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8389-FEE6-4DB9-A429-90888281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AC27C1-F5E4-4DEB-A01B-096E29963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7980CE-CF6F-3D31-0BA7-41EEB22BB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9688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02A6-B60D-A96B-12F1-B4D80C8F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137953-FA38-0FF8-F058-5540E6ADD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0AF189-2DE0-D994-1C2D-D525DB1A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3609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de-AT" smtClean="0"/>
              <a:pPr/>
              <a:t>‹Nr.›</a:t>
            </a:fld>
            <a:endParaRPr lang="de-AT" dirty="0">
              <a:solidFill>
                <a:schemeClr val="bg1"/>
              </a:solidFill>
            </a:endParaRPr>
          </a:p>
        </p:txBody>
      </p:sp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6306BBC1-E03A-F152-C703-D32EFE462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2939837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AF0B927E-BC02-E447-1933-828E1B6F4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6817" y="68742"/>
            <a:ext cx="1745181" cy="57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B8216B48-7C45-AA54-E614-37E99008EA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6541" y="6087444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D79F7BCF-BBB7-3894-91B5-A6F05CCE99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2DA8446-2FA0-04D7-3759-5E6ACF4779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FEFDD764-FA47-39CB-8417-CCF8779420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424F291B-73B5-9D6E-B778-5FBE95B150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06" y="6077732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430FB98-80F5-DCF9-D680-053BA670DF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581560C5-E96D-652C-7797-7E72F96EEC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7C41091-8B52-6C57-3170-47BA143542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6E71F870-1F9B-900B-36BA-C9DF2C42C0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A75B1080-5F71-FD7F-6C65-7E347CCA6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3" name="Grafik 2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4D1D3423-DBC5-2EBE-474C-426E356C29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D6AC1E20-0A1D-46AE-38D7-2320BB282D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44E5B82D-B1AC-F3BC-125D-604F4F0A8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D3427751-8C60-2CD1-EA60-D68B65CB7A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5682" y="5971109"/>
            <a:ext cx="2238796" cy="738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089655DC-22F6-2498-D15B-D48FF011B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930" y="741582"/>
            <a:ext cx="5746140" cy="18966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33F5856-E949-3554-0594-6ECE332EB90C}"/>
              </a:ext>
            </a:extLst>
          </p:cNvPr>
          <p:cNvSpPr txBox="1"/>
          <p:nvPr/>
        </p:nvSpPr>
        <p:spPr>
          <a:xfrm>
            <a:off x="4191000" y="2827866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388EEC"/>
                </a:solidFill>
              </a:rPr>
              <a:t>Status Präsentation</a:t>
            </a:r>
            <a:endParaRPr lang="de-AT" sz="2800" b="1" dirty="0">
              <a:solidFill>
                <a:srgbClr val="388E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4DE13-038A-CE76-55ED-7C99DE90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552D22-5AC6-8C9F-BB1E-15D2FBFE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Projektstatus</a:t>
            </a:r>
          </a:p>
          <a:p>
            <a:r>
              <a:rPr lang="de-AT" dirty="0"/>
              <a:t>Fortschritte</a:t>
            </a:r>
          </a:p>
          <a:p>
            <a:r>
              <a:rPr lang="de-AT" dirty="0"/>
              <a:t>Probleme</a:t>
            </a:r>
          </a:p>
          <a:p>
            <a:r>
              <a:rPr lang="de-AT" dirty="0"/>
              <a:t>Nächste Schritte</a:t>
            </a:r>
          </a:p>
          <a:p>
            <a:r>
              <a:rPr lang="de-AT" dirty="0"/>
              <a:t>Meilensteine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C3936D-196B-7093-7454-B9D1D543D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de-AT" smtClean="0"/>
              <a:pPr/>
              <a:t>2</a:t>
            </a:fld>
            <a:endParaRPr lang="de-A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55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92BE0-D91E-5B45-3C97-A204B0E9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Projektstatus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3ECBB0-0DF2-AA97-1443-EE599D878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180024"/>
            <a:ext cx="7965460" cy="3497698"/>
          </a:xfrm>
        </p:spPr>
        <p:txBody>
          <a:bodyPr/>
          <a:lstStyle/>
          <a:p>
            <a:pPr marL="0" indent="0">
              <a:buNone/>
            </a:pPr>
            <a:r>
              <a:rPr lang="de-AT" sz="2400" dirty="0"/>
              <a:t>Projekt in fortgeschrittener Phase</a:t>
            </a:r>
          </a:p>
          <a:p>
            <a:pPr marL="0" indent="0">
              <a:buNone/>
            </a:pPr>
            <a:r>
              <a:rPr lang="de-AT" sz="2400" dirty="0"/>
              <a:t>Kernfunktionen umgesetzt</a:t>
            </a:r>
          </a:p>
          <a:p>
            <a:pPr marL="0" indent="0">
              <a:buNone/>
            </a:pPr>
            <a:r>
              <a:rPr lang="de-AT" sz="2400" dirty="0"/>
              <a:t>Fokus auf Integration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3D393E-3509-DC11-0C18-89C2B3574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92010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0DE1-32A6-F74E-AAFE-68C8629B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6C0BB41-1534-18BC-17F5-956EDCEC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4000" dirty="0"/>
              <a:t>Ziele</a:t>
            </a: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4DFA50D0-FD2C-BE0F-14B6-AEB7A7E46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8041111" cy="396159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r>
              <a:rPr lang="de-DE" sz="2400" dirty="0"/>
              <a:t>Automatischer Erfassung von Fahrten</a:t>
            </a:r>
          </a:p>
          <a:p>
            <a:pPr rtl="0">
              <a:spcAft>
                <a:spcPts val="600"/>
              </a:spcAft>
            </a:pPr>
            <a:r>
              <a:rPr lang="de-DE" sz="2400" dirty="0"/>
              <a:t>Web-App + Smartphone App</a:t>
            </a:r>
          </a:p>
          <a:p>
            <a:pPr rtl="0">
              <a:spcAft>
                <a:spcPts val="600"/>
              </a:spcAft>
            </a:pPr>
            <a:r>
              <a:rPr lang="de-DE" sz="2400" dirty="0"/>
              <a:t>GPS-Aufzeichnung in Echtzeit</a:t>
            </a:r>
          </a:p>
          <a:p>
            <a:pPr rtl="0">
              <a:spcAft>
                <a:spcPts val="600"/>
              </a:spcAft>
            </a:pPr>
            <a:r>
              <a:rPr lang="de-DE" sz="2400" dirty="0"/>
              <a:t>Einfache &amp; zuverlässige Bedienung</a:t>
            </a:r>
          </a:p>
          <a:p>
            <a:pPr>
              <a:spcAft>
                <a:spcPts val="600"/>
              </a:spcAft>
            </a:pPr>
            <a:r>
              <a:rPr lang="de-DE" sz="2400" dirty="0"/>
              <a:t>Automatische Erstellung von Fahrtenprotokollen</a:t>
            </a:r>
          </a:p>
          <a:p>
            <a:pPr rtl="0">
              <a:spcAft>
                <a:spcPts val="600"/>
              </a:spcAft>
            </a:pPr>
            <a:r>
              <a:rPr lang="de-DE" sz="2400" dirty="0"/>
              <a:t>Visualisierung auf Karte &amp; Export der Protokolle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9BFC741-8A18-50BC-49B4-F6F98C644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4</a:t>
            </a:fld>
            <a:endParaRPr lang="de-DE" dirty="0"/>
          </a:p>
        </p:txBody>
      </p:sp>
      <p:pic>
        <p:nvPicPr>
          <p:cNvPr id="7" name="Grafik 6" descr="Karte mit Ortsmarkierung mit einfarbiger Füllung">
            <a:extLst>
              <a:ext uri="{FF2B5EF4-FFF2-40B4-BE49-F238E27FC236}">
                <a16:creationId xmlns:a16="http://schemas.microsoft.com/office/drawing/2014/main" id="{C73D811E-6486-1A7C-C0F2-1143D5773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96369" y="3857625"/>
            <a:ext cx="1409700" cy="1409700"/>
          </a:xfrm>
          <a:prstGeom prst="rect">
            <a:avLst/>
          </a:prstGeom>
        </p:spPr>
      </p:pic>
      <p:pic>
        <p:nvPicPr>
          <p:cNvPr id="11" name="Grafik 10" descr="Smartphone mit einfarbiger Füllung">
            <a:extLst>
              <a:ext uri="{FF2B5EF4-FFF2-40B4-BE49-F238E27FC236}">
                <a16:creationId xmlns:a16="http://schemas.microsoft.com/office/drawing/2014/main" id="{2BA46CD8-5561-A2B9-3DCF-6CD76211A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489" y="2253205"/>
            <a:ext cx="1125972" cy="1125972"/>
          </a:xfrm>
          <a:prstGeom prst="rect">
            <a:avLst/>
          </a:prstGeom>
        </p:spPr>
      </p:pic>
      <p:pic>
        <p:nvPicPr>
          <p:cNvPr id="15" name="Grafik 14" descr="Internet mit einfarbiger Füllung">
            <a:extLst>
              <a:ext uri="{FF2B5EF4-FFF2-40B4-BE49-F238E27FC236}">
                <a16:creationId xmlns:a16="http://schemas.microsoft.com/office/drawing/2014/main" id="{0804E4ED-680A-7A89-052A-81DD240EB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0524" y="2766647"/>
            <a:ext cx="1225061" cy="1225061"/>
          </a:xfrm>
          <a:prstGeom prst="rect">
            <a:avLst/>
          </a:prstGeom>
        </p:spPr>
      </p:pic>
      <p:pic>
        <p:nvPicPr>
          <p:cNvPr id="17" name="Grafik 16" descr="Volltreffer mit einfarbiger Füllung">
            <a:extLst>
              <a:ext uri="{FF2B5EF4-FFF2-40B4-BE49-F238E27FC236}">
                <a16:creationId xmlns:a16="http://schemas.microsoft.com/office/drawing/2014/main" id="{D9EE7B0E-B10C-C74D-E49A-33195FE87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3275" y="12712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80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CD78-5D3B-BFB4-D0F3-4A43A998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4766815-D541-928A-8710-3BA77F469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5</a:t>
            </a:fld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763DB3E-7AE1-48DD-8469-8816568E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123" y="773112"/>
            <a:ext cx="5257800" cy="56832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4000" dirty="0"/>
              <a:t>Meilensteine</a:t>
            </a: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8EA2A2CE-06E0-C1BE-D0A6-E73C9BE634C1}"/>
              </a:ext>
            </a:extLst>
          </p:cNvPr>
          <p:cNvSpPr txBox="1">
            <a:spLocks/>
          </p:cNvSpPr>
          <p:nvPr/>
        </p:nvSpPr>
        <p:spPr>
          <a:xfrm>
            <a:off x="824594" y="2205936"/>
            <a:ext cx="11367406" cy="3886732"/>
          </a:xfrm>
          <a:prstGeom prst="rect">
            <a:avLst/>
          </a:prstGeom>
        </p:spPr>
        <p:txBody>
          <a:bodyPr rtlCol="0">
            <a:normAutofit fontScale="92500"/>
          </a:bodyPr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200"/>
              </a:spcAft>
            </a:pPr>
            <a:r>
              <a:rPr lang="de-DE" b="1" dirty="0"/>
              <a:t>M1</a:t>
            </a:r>
            <a:r>
              <a:rPr lang="de-DE" dirty="0"/>
              <a:t>: Kickoff-Meeting – 11.12.2025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M2</a:t>
            </a:r>
            <a:r>
              <a:rPr lang="de-DE" dirty="0"/>
              <a:t>: Prototypen für Frontend, APIs (GPS, Wetter) – 26.01.2026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M3</a:t>
            </a:r>
            <a:r>
              <a:rPr lang="de-DE" dirty="0"/>
              <a:t>: Backend mit Datenbank, Kommunikation zu Frontend – 26.03.2026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M4</a:t>
            </a:r>
            <a:r>
              <a:rPr lang="de-DE" dirty="0"/>
              <a:t>: Automatische Protokollerstellung und Export, Konto-Arten– 20.04.2026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M5</a:t>
            </a:r>
            <a:r>
              <a:rPr lang="de-DE" dirty="0"/>
              <a:t>: Finales Frontend Design – 28.05.2026</a:t>
            </a:r>
          </a:p>
          <a:p>
            <a:pPr marL="342900" indent="-342900">
              <a:spcAft>
                <a:spcPts val="1200"/>
              </a:spcAft>
            </a:pPr>
            <a:r>
              <a:rPr lang="de-DE" b="1" dirty="0"/>
              <a:t>M6</a:t>
            </a:r>
            <a:r>
              <a:rPr lang="de-DE" dirty="0"/>
              <a:t>: Abschluss – 15.06.2026</a:t>
            </a:r>
          </a:p>
          <a:p>
            <a:pPr marL="342900" indent="-34290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739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431606"/>
            <a:ext cx="7965461" cy="99416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Risiken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769629"/>
            <a:ext cx="7965460" cy="2591040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r>
              <a:rPr lang="de-DE" sz="2000" dirty="0"/>
              <a:t>Verzögerung der Entwicklung – Zeitmangel</a:t>
            </a:r>
          </a:p>
          <a:p>
            <a:pPr rtl="0">
              <a:spcAft>
                <a:spcPts val="600"/>
              </a:spcAft>
            </a:pPr>
            <a:r>
              <a:rPr lang="de-DE" sz="2000" dirty="0"/>
              <a:t>Probleme mit API-Anbindung für GPS-Aufzeichnung und Wetter</a:t>
            </a:r>
          </a:p>
          <a:p>
            <a:pPr rtl="0">
              <a:spcAft>
                <a:spcPts val="600"/>
              </a:spcAft>
            </a:pPr>
            <a:r>
              <a:rPr lang="de-DE" sz="2000" dirty="0"/>
              <a:t>Fehlende Erfahrung mit neuen Technologien</a:t>
            </a:r>
          </a:p>
          <a:p>
            <a:pPr rtl="0">
              <a:spcAft>
                <a:spcPts val="600"/>
              </a:spcAft>
            </a:pPr>
            <a:r>
              <a:rPr lang="de-DE" sz="2000" dirty="0"/>
              <a:t>Limitierungen durch API-Anfragen</a:t>
            </a:r>
          </a:p>
          <a:p>
            <a:pPr rtl="0">
              <a:spcAft>
                <a:spcPts val="600"/>
              </a:spcAft>
            </a:pPr>
            <a:r>
              <a:rPr lang="de-DE" sz="2000" dirty="0"/>
              <a:t>Instabiler oder unerreichbarer Datenbank-Server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6</a:t>
            </a:fld>
            <a:endParaRPr lang="de-DE" dirty="0"/>
          </a:p>
        </p:txBody>
      </p:sp>
      <p:pic>
        <p:nvPicPr>
          <p:cNvPr id="5" name="Grafik 4" descr="Warnung mit einfarbiger Füllung">
            <a:extLst>
              <a:ext uri="{FF2B5EF4-FFF2-40B4-BE49-F238E27FC236}">
                <a16:creationId xmlns:a16="http://schemas.microsoft.com/office/drawing/2014/main" id="{C048610D-2AF2-3587-C0AE-29AB2A066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7225" y="4857752"/>
            <a:ext cx="1152527" cy="1152527"/>
          </a:xfrm>
          <a:prstGeom prst="rect">
            <a:avLst/>
          </a:prstGeom>
        </p:spPr>
      </p:pic>
      <p:pic>
        <p:nvPicPr>
          <p:cNvPr id="7" name="Grafik 6" descr="Martinshorn mit einfarbiger Füllung">
            <a:extLst>
              <a:ext uri="{FF2B5EF4-FFF2-40B4-BE49-F238E27FC236}">
                <a16:creationId xmlns:a16="http://schemas.microsoft.com/office/drawing/2014/main" id="{1964C23B-A4EB-0A1A-D848-1554F1806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5673" y="4857751"/>
            <a:ext cx="1152527" cy="11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nutzerdefiniert">
  <a:themeElements>
    <a:clrScheme name="Benutzerdefiniert 3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163559"/>
      </a:accent6>
      <a:hlink>
        <a:srgbClr val="0066FF"/>
      </a:hlink>
      <a:folHlink>
        <a:srgbClr val="66669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{0CFED32C-4F6F-42A4-8CD0-56478309B414}tf78438558_win32</Template>
  <TotalTime>0</TotalTime>
  <Words>174</Words>
  <Application>Microsoft Office PowerPoint</Application>
  <PresentationFormat>Breitbild</PresentationFormat>
  <Paragraphs>38</Paragraphs>
  <Slides>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Benutzerdefiniert</vt:lpstr>
      <vt:lpstr>PowerPoint-Präsentation</vt:lpstr>
      <vt:lpstr>Agenda</vt:lpstr>
      <vt:lpstr>Projektstatus</vt:lpstr>
      <vt:lpstr>Ziele</vt:lpstr>
      <vt:lpstr>Meilensteine</vt:lpstr>
      <vt:lpstr>Risiken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Christof Prevedel</dc:creator>
  <cp:lastModifiedBy>Daniel Steffelbauer</cp:lastModifiedBy>
  <cp:revision>12</cp:revision>
  <dcterms:created xsi:type="dcterms:W3CDTF">2025-12-10T16:00:37Z</dcterms:created>
  <dcterms:modified xsi:type="dcterms:W3CDTF">2026-04-09T09:45:32Z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