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31" r:id="rId6"/>
    <p:sldId id="332" r:id="rId7"/>
    <p:sldId id="335" r:id="rId8"/>
    <p:sldId id="333" r:id="rId9"/>
    <p:sldId id="329" r:id="rId10"/>
    <p:sldId id="334" r:id="rId11"/>
    <p:sldId id="282" r:id="rId12"/>
    <p:sldId id="297" r:id="rId13"/>
  </p:sldIdLst>
  <p:sldSz cx="12192000" cy="6858000"/>
  <p:notesSz cx="13716000" cy="24384000"/>
  <p:defaultTextStyle>
    <a:defPPr rtl="0">
      <a:defRPr lang="de-DE"/>
    </a:defPPr>
    <a:lvl1pPr marL="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EEC"/>
    <a:srgbClr val="AAC4E9"/>
    <a:srgbClr val="202C8F"/>
    <a:srgbClr val="FDFBF6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388" autoAdjust="0"/>
  </p:normalViewPr>
  <p:slideViewPr>
    <p:cSldViewPr snapToGrid="0" snapToObjects="1">
      <p:cViewPr varScale="1">
        <p:scale>
          <a:sx n="102" d="100"/>
          <a:sy n="102" d="100"/>
        </p:scale>
        <p:origin x="126" y="31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30" d="100"/>
          <a:sy n="30" d="100"/>
        </p:scale>
        <p:origin x="4368" y="5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F94-4120-9C5B-7559A76FC98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F94-4120-9C5B-7559A76FC98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F94-4120-9C5B-7559A76FC98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F94-4120-9C5B-7559A76FC988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D46CFBC-4C64-429C-A4D6-BE085A72CFD3}" type="PERCENTAGE">
                      <a:rPr lang="en-US" sz="2000">
                        <a:solidFill>
                          <a:schemeClr val="bg2">
                            <a:lumMod val="10000"/>
                          </a:schemeClr>
                        </a:solidFill>
                      </a:rPr>
                      <a:pPr>
                        <a:defRPr>
                          <a:solidFill>
                            <a:schemeClr val="bg2">
                              <a:lumMod val="10000"/>
                            </a:schemeClr>
                          </a:solidFill>
                        </a:defRPr>
                      </a:pPr>
                      <a:t>[PROZENTSATZ]</a:t>
                    </a:fld>
                    <a:endParaRPr lang="de-AT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F94-4120-9C5B-7559A76FC988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94-4120-9C5B-7559A76FC988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F94-4120-9C5B-7559A76FC988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F94-4120-9C5B-7559A76FC9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Daneil</c:v>
                </c:pt>
                <c:pt idx="1">
                  <c:v>Niklas</c:v>
                </c:pt>
                <c:pt idx="2">
                  <c:v>Christof</c:v>
                </c:pt>
                <c:pt idx="3">
                  <c:v>Eric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50</c:v>
                </c:pt>
                <c:pt idx="1">
                  <c:v>56</c:v>
                </c:pt>
                <c:pt idx="2">
                  <c:v>62</c:v>
                </c:pt>
                <c:pt idx="3">
                  <c:v>74.5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94-4120-9C5B-7559A76FC9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1F194BD-2269-4EFA-851F-443B834DD978}" type="datetimeyyyy">
              <a:rPr lang="de-DE" smtClean="0"/>
              <a:t>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20BD0AB-C59E-4A46-83D3-F07787446BA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Sehr Geehrter Herr Professor, Liebe Mitschüler,</a:t>
            </a:r>
          </a:p>
          <a:p>
            <a:pPr rtl="0"/>
            <a:r>
              <a:rPr lang="de-DE" dirty="0"/>
              <a:t>Wir von Team </a:t>
            </a:r>
            <a:r>
              <a:rPr lang="de-DE" dirty="0" err="1"/>
              <a:t>DriveSense</a:t>
            </a:r>
            <a:r>
              <a:rPr lang="de-DE" dirty="0"/>
              <a:t> freuen uns, heute den offiziellen Kickoff unseres Projekts bekanntzugeben.</a:t>
            </a:r>
            <a:br>
              <a:rPr lang="de-DE" dirty="0"/>
            </a:br>
            <a:r>
              <a:rPr lang="de-DE" dirty="0"/>
              <a:t>In unserer Präsentation werden wir Ihnen einen Einblick in unsere Zielsetzung für dieses Projekt geben sowie in das bisherige Projektmanagement.</a:t>
            </a:r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E02A6-B60D-A96B-12F1-B4D80C8F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1137953-FA38-0FF8-F058-5540E6ADD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0AF189-2DE0-D994-1C2D-D525DB1A7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3609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bildung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ihand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" name="Freihand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ihand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4" name="Bild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de-DE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de-DE" sz="18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solidFill>
                  <a:schemeClr val="bg1"/>
                </a:solidFill>
                <a:latin typeface="+mj-lt"/>
              </a:defRPr>
            </a:lvl1pPr>
          </a:lstStyle>
          <a:p>
            <a:fld id="{48F63A3B-78C7-47BE-AE5E-E10140E04643}" type="slidenum">
              <a:rPr lang="de-AT" smtClean="0"/>
              <a:pPr/>
              <a:t>‹Nr.›</a:t>
            </a:fld>
            <a:endParaRPr lang="de-AT" dirty="0">
              <a:solidFill>
                <a:schemeClr val="bg1"/>
              </a:solidFill>
            </a:endParaRPr>
          </a:p>
        </p:txBody>
      </p:sp>
      <p:pic>
        <p:nvPicPr>
          <p:cNvPr id="4" name="Grafik 3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6306BBC1-E03A-F152-C703-D32EFE462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2939837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ihandform: Form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15" name="Freihandform: Form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6" name="Bild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AF0B927E-BC02-E447-1933-828E1B6F4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817" y="68742"/>
            <a:ext cx="1745181" cy="57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36" name="Freihand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lvl="0" algn="ctr" rtl="0"/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Klicken Sie, um Text hinzuzufügen.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pic>
        <p:nvPicPr>
          <p:cNvPr id="2" name="Grafik 1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B8216B48-7C45-AA54-E614-37E99008EA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6541" y="6087444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3" name="Freihandform: Form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9" name="Freihand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1" name="Freihand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3" name="Bild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Foliennummernplatzhalt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D79F7BCF-BBB7-3894-91B5-A6F05CCE99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Abbildung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3" name="Bild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7" name="Bild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E2DA8446-2FA0-04D7-3759-5E6ACF4779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9" name="Foliennummernplatzhalt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Inhaltsplatzhalt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5" name="Inhaltsplatzhalt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2" name="Grafik 1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FEFDD764-FA47-39CB-8417-CCF8779420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de-DE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de-DE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indent="-283464">
              <a:spcBef>
                <a:spcPts val="1000"/>
              </a:spcBef>
              <a:defRPr lang="de-DE" sz="1800"/>
            </a:lvl2pPr>
            <a:lvl3pPr indent="-283464">
              <a:spcBef>
                <a:spcPts val="1000"/>
              </a:spcBef>
              <a:defRPr lang="de-DE" sz="1800"/>
            </a:lvl3pPr>
            <a:lvl4pPr indent="-283464">
              <a:spcBef>
                <a:spcPts val="1000"/>
              </a:spcBef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ihandform: Form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21" name="Freihandform: Form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2" name="Freihandform: Form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3" name="Bild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44" name="Foliennummernplatzhalt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424F291B-73B5-9D6E-B778-5FBE95B150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06" y="6077732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6" name="Bild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21" name="Bild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ihand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E430FB98-80F5-DCF9-D680-053BA670DF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Bild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Textplatzhalt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de-DE" sz="1800"/>
            </a:lvl1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de-DE" sz="1800"/>
            </a:lvl1pPr>
            <a:lvl2pPr>
              <a:defRPr lang="de-DE" sz="1800"/>
            </a:lvl2pPr>
            <a:lvl3pPr>
              <a:defRPr lang="de-DE" sz="1800"/>
            </a:lvl3pPr>
            <a:lvl4pPr>
              <a:defRPr lang="de-DE" sz="1800"/>
            </a:lvl4pPr>
            <a:lvl5pPr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581560C5-E96D-652C-7797-7E72F96EEC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9" name="Freihand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7" name="Foliennummernplatzhalt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ild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5" name="Grafik 4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E7C41091-8B52-6C57-3170-47BA143542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6E71F870-1F9B-900B-36BA-C9DF2C42C0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9" name="Bild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de-DE" sz="2400"/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A75B1080-5F71-FD7F-6C65-7E347CCA6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4D1D3423-DBC5-2EBE-474C-426E356C2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D6AC1E20-0A1D-46AE-38D7-2320BB282D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de-DE" sz="3200"/>
            </a:lvl1pPr>
            <a:lvl2pPr>
              <a:defRPr lang="de-DE" sz="2800"/>
            </a:lvl2pPr>
            <a:lvl3pPr>
              <a:defRPr lang="de-DE" sz="2400"/>
            </a:lvl3pPr>
            <a:lvl4pPr>
              <a:defRPr lang="de-DE" sz="2000"/>
            </a:lvl4pPr>
            <a:lvl5pPr>
              <a:defRPr lang="de-DE" sz="2000"/>
            </a:lvl5pPr>
            <a:lvl6pPr>
              <a:defRPr lang="de-DE" sz="2000"/>
            </a:lvl6pPr>
            <a:lvl7pPr>
              <a:defRPr lang="de-DE" sz="2000"/>
            </a:lvl7pPr>
            <a:lvl8pPr>
              <a:defRPr lang="de-DE" sz="2000"/>
            </a:lvl8pPr>
            <a:lvl9pPr>
              <a:defRPr lang="de-DE" sz="2000"/>
            </a:lvl9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5" name="Grafik 4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44E5B82D-B1AC-F3BC-125D-604F4F0A8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de-DE" sz="2800"/>
            </a:lvl1pPr>
            <a:lvl2pPr marL="457200" indent="0">
              <a:buNone/>
              <a:defRPr lang="de-DE" sz="2800"/>
            </a:lvl2pPr>
            <a:lvl3pPr marL="914400" indent="0">
              <a:buNone/>
              <a:defRPr lang="de-DE" sz="2400"/>
            </a:lvl3pPr>
            <a:lvl4pPr marL="1371600" indent="0">
              <a:buNone/>
              <a:defRPr lang="de-DE" sz="2000"/>
            </a:lvl4pPr>
            <a:lvl5pPr marL="1828800" indent="0">
              <a:buNone/>
              <a:defRPr lang="de-DE" sz="2000"/>
            </a:lvl5pPr>
            <a:lvl6pPr marL="2286000" indent="0">
              <a:buNone/>
              <a:defRPr lang="de-DE" sz="2000"/>
            </a:lvl6pPr>
            <a:lvl7pPr marL="2743200" indent="0">
              <a:buNone/>
              <a:defRPr lang="de-DE" sz="2000"/>
            </a:lvl7pPr>
            <a:lvl8pPr marL="3200400" indent="0">
              <a:buNone/>
              <a:defRPr lang="de-DE" sz="2000"/>
            </a:lvl8pPr>
            <a:lvl9pPr marL="3657600" indent="0">
              <a:buNone/>
              <a:defRPr lang="de-DE" sz="2000"/>
            </a:lvl9pPr>
          </a:lstStyle>
          <a:p>
            <a:pPr rtl="0"/>
            <a:r>
              <a:rPr lang="de-DE"/>
              <a:t>Klicken, um Bild hinzuzufügen</a:t>
            </a:r>
          </a:p>
        </p:txBody>
      </p:sp>
      <p:pic>
        <p:nvPicPr>
          <p:cNvPr id="5" name="Grafik 4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D3427751-8C60-2CD1-EA60-D68B65CB7A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de-DE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089655DC-22F6-2498-D15B-D48FF011B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930" y="741582"/>
            <a:ext cx="5746140" cy="189667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33F5856-E949-3554-0594-6ECE332EB90C}"/>
              </a:ext>
            </a:extLst>
          </p:cNvPr>
          <p:cNvSpPr txBox="1"/>
          <p:nvPr/>
        </p:nvSpPr>
        <p:spPr>
          <a:xfrm>
            <a:off x="4191000" y="2827866"/>
            <a:ext cx="52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388EEC"/>
                </a:solidFill>
              </a:rPr>
              <a:t>Status-Meeting</a:t>
            </a:r>
            <a:endParaRPr lang="de-AT" sz="2800" b="1" dirty="0">
              <a:solidFill>
                <a:srgbClr val="388EEC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873F719-C6B8-CB7E-FB2B-10DD626570B1}"/>
              </a:ext>
            </a:extLst>
          </p:cNvPr>
          <p:cNvSpPr txBox="1"/>
          <p:nvPr/>
        </p:nvSpPr>
        <p:spPr>
          <a:xfrm>
            <a:off x="6449352" y="3435664"/>
            <a:ext cx="1405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1600" dirty="0">
                <a:solidFill>
                  <a:srgbClr val="388EEC"/>
                </a:solidFill>
              </a:rPr>
              <a:t>12.04.2026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0206037" y="433386"/>
            <a:ext cx="1067589" cy="471489"/>
          </a:xfrm>
        </p:spPr>
        <p:txBody>
          <a:bodyPr rtlCol="0"/>
          <a:lstStyle/>
          <a:p>
            <a:fld id="{48F63A3B-78C7-47BE-AE5E-E10140E04643}" type="slidenum">
              <a:rPr lang="de-DE" smtClean="0"/>
              <a:t>2</a:t>
            </a:fld>
            <a:endParaRPr lang="de-DE"/>
          </a:p>
        </p:txBody>
      </p:sp>
      <p:sp>
        <p:nvSpPr>
          <p:cNvPr id="5" name="Titel 25"/>
          <p:cNvSpPr>
            <a:spLocks noGrp="1"/>
          </p:cNvSpPr>
          <p:nvPr>
            <p:ph type="title"/>
          </p:nvPr>
        </p:nvSpPr>
        <p:spPr>
          <a:xfrm>
            <a:off x="765974" y="447673"/>
            <a:ext cx="6583680" cy="1531357"/>
          </a:xfrm>
        </p:spPr>
        <p:txBody>
          <a:bodyPr/>
          <a:lstStyle/>
          <a:p>
            <a:r>
              <a:rPr lang="de-DE" dirty="0"/>
              <a:t>Projektstatus</a:t>
            </a:r>
          </a:p>
        </p:txBody>
      </p:sp>
      <p:sp>
        <p:nvSpPr>
          <p:cNvPr id="6" name="Inhaltsplatzhalter 23"/>
          <p:cNvSpPr>
            <a:spLocks noGrp="1"/>
          </p:cNvSpPr>
          <p:nvPr>
            <p:ph idx="1"/>
          </p:nvPr>
        </p:nvSpPr>
        <p:spPr>
          <a:xfrm>
            <a:off x="914399" y="2098382"/>
            <a:ext cx="6772275" cy="3737585"/>
          </a:xfrm>
        </p:spPr>
        <p:txBody>
          <a:bodyPr>
            <a:normAutofit fontScale="77500" lnSpcReduction="20000"/>
          </a:bodyPr>
          <a:lstStyle/>
          <a:p>
            <a:r>
              <a:rPr lang="de-DE" b="1" dirty="0"/>
              <a:t>Backend (Java/Spring): </a:t>
            </a:r>
            <a:r>
              <a:rPr lang="de-DE" dirty="0"/>
              <a:t>JWT-Auth, CRUD-Endpunkte, Security, Exception Handling </a:t>
            </a:r>
          </a:p>
          <a:p>
            <a:r>
              <a:rPr lang="de-DE" b="1" dirty="0"/>
              <a:t>Datenbank (MySQL): </a:t>
            </a:r>
            <a:r>
              <a:rPr lang="de-DE" dirty="0"/>
              <a:t>account, profile, trip, trackingpoint, vehicle, protocol, usergroup</a:t>
            </a:r>
          </a:p>
          <a:p>
            <a:r>
              <a:rPr lang="de-DE" b="1" dirty="0"/>
              <a:t>Externe APIs: </a:t>
            </a:r>
            <a:r>
              <a:rPr lang="de-DE" dirty="0"/>
              <a:t>Open-Meteo (Wetter) + Geocoding angebunden</a:t>
            </a:r>
          </a:p>
          <a:p>
            <a:r>
              <a:rPr lang="de-DE" b="1" dirty="0"/>
              <a:t>WebApp (React/TS): </a:t>
            </a:r>
            <a:r>
              <a:rPr lang="de-DE" dirty="0"/>
              <a:t>Login, Profilauswahl, Dashboard, Fahrten, Fahrzeuge – in Arbeit</a:t>
            </a:r>
          </a:p>
          <a:p>
            <a:r>
              <a:rPr lang="de-DE" b="1" dirty="0"/>
              <a:t>Mobile App (Flutter/Dart): </a:t>
            </a:r>
            <a:r>
              <a:rPr lang="de-DE" dirty="0"/>
              <a:t>GPS-Tracking Grundgerüst – in Arbeit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0206037" y="433386"/>
            <a:ext cx="1067589" cy="471489"/>
          </a:xfrm>
        </p:spPr>
        <p:txBody>
          <a:bodyPr rtlCol="0"/>
          <a:lstStyle/>
          <a:p>
            <a:fld id="{48F63A3B-78C7-47BE-AE5E-E10140E04643}" type="slidenum">
              <a:rPr lang="de-DE" smtClean="0"/>
              <a:t>3</a:t>
            </a:fld>
            <a:endParaRPr lang="de-DE"/>
          </a:p>
        </p:txBody>
      </p:sp>
      <p:sp>
        <p:nvSpPr>
          <p:cNvPr id="5" name="Titel 25"/>
          <p:cNvSpPr>
            <a:spLocks noGrp="1"/>
          </p:cNvSpPr>
          <p:nvPr>
            <p:ph type="title"/>
          </p:nvPr>
        </p:nvSpPr>
        <p:spPr>
          <a:xfrm>
            <a:off x="765974" y="447673"/>
            <a:ext cx="6583680" cy="1531357"/>
          </a:xfrm>
        </p:spPr>
        <p:txBody>
          <a:bodyPr/>
          <a:lstStyle/>
          <a:p>
            <a:r>
              <a:rPr lang="de-DE" dirty="0"/>
              <a:t>Fortschritt &amp; erledigte Aufgaben</a:t>
            </a:r>
          </a:p>
        </p:txBody>
      </p:sp>
      <p:sp>
        <p:nvSpPr>
          <p:cNvPr id="6" name="Inhaltsplatzhalter 23"/>
          <p:cNvSpPr>
            <a:spLocks noGrp="1"/>
          </p:cNvSpPr>
          <p:nvPr>
            <p:ph idx="1"/>
          </p:nvPr>
        </p:nvSpPr>
        <p:spPr>
          <a:xfrm>
            <a:off x="914399" y="2098382"/>
            <a:ext cx="6772275" cy="3737585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Backend: </a:t>
            </a:r>
            <a:r>
              <a:rPr lang="de-DE" dirty="0"/>
              <a:t>Vollständiges JWT-System (</a:t>
            </a:r>
            <a:r>
              <a:rPr lang="de-DE" dirty="0" err="1"/>
              <a:t>accountToken</a:t>
            </a:r>
            <a:r>
              <a:rPr lang="de-DE" dirty="0"/>
              <a:t>, </a:t>
            </a:r>
            <a:r>
              <a:rPr lang="de-DE" dirty="0" err="1"/>
              <a:t>profileToken</a:t>
            </a:r>
            <a:r>
              <a:rPr lang="de-DE" dirty="0"/>
              <a:t>, </a:t>
            </a:r>
            <a:r>
              <a:rPr lang="de-DE" dirty="0" err="1"/>
              <a:t>refreshToken</a:t>
            </a:r>
            <a:r>
              <a:rPr lang="de-DE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Backend: </a:t>
            </a:r>
            <a:r>
              <a:rPr lang="de-DE" dirty="0"/>
              <a:t>Rollen-System im Token (Privat, Beruflich, Fahrschüler)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Backend: </a:t>
            </a:r>
            <a:r>
              <a:rPr lang="de-DE" dirty="0"/>
              <a:t>Admin-Controller, Gruppen-System (</a:t>
            </a:r>
            <a:r>
              <a:rPr lang="de-DE" dirty="0" err="1"/>
              <a:t>UserGroup</a:t>
            </a:r>
            <a:r>
              <a:rPr lang="de-DE" dirty="0"/>
              <a:t>), Protokoll-</a:t>
            </a:r>
            <a:r>
              <a:rPr lang="de-DE" dirty="0" err="1"/>
              <a:t>Verwaltung,Trips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Backend: </a:t>
            </a:r>
            <a:r>
              <a:rPr lang="de-DE" dirty="0"/>
              <a:t>Globales </a:t>
            </a:r>
            <a:r>
              <a:rPr lang="de-DE" dirty="0" err="1"/>
              <a:t>Exception</a:t>
            </a:r>
            <a:r>
              <a:rPr lang="de-DE" dirty="0"/>
              <a:t> Handling mit strukturierten Fehlermeldungen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WebApp</a:t>
            </a:r>
            <a:r>
              <a:rPr lang="de-DE" b="1" dirty="0"/>
              <a:t>: </a:t>
            </a:r>
            <a:r>
              <a:rPr lang="de-DE" dirty="0"/>
              <a:t>Auth-Flow (Login → Profilauswahl → Dashboard) strukturell fertig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WebApp</a:t>
            </a:r>
            <a:r>
              <a:rPr lang="de-DE" b="1" dirty="0"/>
              <a:t>: </a:t>
            </a:r>
            <a:r>
              <a:rPr lang="de-DE" dirty="0"/>
              <a:t>Fahrten- und Fahrzeugtabelle laden Daten vom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WebApp</a:t>
            </a:r>
            <a:r>
              <a:rPr lang="de-DE" b="1" dirty="0"/>
              <a:t>: </a:t>
            </a:r>
            <a:r>
              <a:rPr lang="de-DE" dirty="0"/>
              <a:t>Google Maps Kartenansicht integriert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Grundgerüst aufgesetzt, GPS-Tracking in Entwicklung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708D48-D8BC-B095-1FE6-A2EF88B4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ArbeitsZeit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0ACFC2-D775-B32C-026F-411F416204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Daniel: 50h</a:t>
            </a:r>
          </a:p>
          <a:p>
            <a:r>
              <a:rPr lang="de-DE" dirty="0"/>
              <a:t>Niklas: 56h</a:t>
            </a:r>
          </a:p>
          <a:p>
            <a:r>
              <a:rPr lang="de-DE" dirty="0"/>
              <a:t>Christof: 62h</a:t>
            </a:r>
          </a:p>
          <a:p>
            <a:r>
              <a:rPr lang="de-DE" dirty="0"/>
              <a:t>Eric: 74,5h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A30DD-6EE9-176E-DFF7-5C1F1B3639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de-DE" smtClean="0"/>
              <a:pPr rtl="0"/>
              <a:t>4</a:t>
            </a:fld>
            <a:endParaRPr lang="de-DE" dirty="0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D9EAC307-9B8B-8FC9-9B27-5712D80BF8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6351110"/>
              </p:ext>
            </p:extLst>
          </p:nvPr>
        </p:nvGraphicFramePr>
        <p:xfrm>
          <a:off x="7334053" y="719666"/>
          <a:ext cx="3629319" cy="5483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236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0206037" y="433386"/>
            <a:ext cx="1067589" cy="471489"/>
          </a:xfrm>
        </p:spPr>
        <p:txBody>
          <a:bodyPr rtlCol="0"/>
          <a:lstStyle/>
          <a:p>
            <a:fld id="{48F63A3B-78C7-47BE-AE5E-E10140E04643}" type="slidenum">
              <a:rPr lang="de-DE" smtClean="0"/>
              <a:t>5</a:t>
            </a:fld>
            <a:endParaRPr lang="de-DE"/>
          </a:p>
        </p:txBody>
      </p:sp>
      <p:sp>
        <p:nvSpPr>
          <p:cNvPr id="5" name="Titel 25"/>
          <p:cNvSpPr>
            <a:spLocks noGrp="1"/>
          </p:cNvSpPr>
          <p:nvPr>
            <p:ph type="title"/>
          </p:nvPr>
        </p:nvSpPr>
        <p:spPr>
          <a:xfrm>
            <a:off x="765974" y="447673"/>
            <a:ext cx="6583680" cy="1531357"/>
          </a:xfrm>
        </p:spPr>
        <p:txBody>
          <a:bodyPr/>
          <a:lstStyle/>
          <a:p>
            <a:r>
              <a:rPr lang="de-DE" dirty="0"/>
              <a:t>Offene Punkte</a:t>
            </a:r>
          </a:p>
        </p:txBody>
      </p:sp>
      <p:sp>
        <p:nvSpPr>
          <p:cNvPr id="6" name="Inhaltsplatzhalter 23"/>
          <p:cNvSpPr>
            <a:spLocks noGrp="1"/>
          </p:cNvSpPr>
          <p:nvPr>
            <p:ph idx="1"/>
          </p:nvPr>
        </p:nvSpPr>
        <p:spPr>
          <a:xfrm>
            <a:off x="914399" y="2098382"/>
            <a:ext cx="6772275" cy="3737585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WebApp: </a:t>
            </a:r>
            <a:r>
              <a:rPr lang="de-DE" dirty="0"/>
              <a:t>Fahrtendetailseite mit Karte und Trackingpoints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WebApp: </a:t>
            </a:r>
            <a:r>
              <a:rPr lang="de-DE" dirty="0"/>
              <a:t>Einstellungsseite (Passwort ändern, Profil wechseln)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WebApp: </a:t>
            </a:r>
            <a:r>
              <a:rPr lang="de-DE" dirty="0"/>
              <a:t>PDF-Export für Fahrtenprotokoll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GPS-Aufzeichnung vollständig implementieren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Fahrtstart/-stop und automatische Protokollerstellung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Allgemein: </a:t>
            </a:r>
            <a:r>
              <a:rPr lang="de-DE" dirty="0"/>
              <a:t>End-to-End Test: Mobile App → Backend → WebApp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7CD78-5D3B-BFB4-D0F3-4A43A998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4766815-D541-928A-8710-3BA77F469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6</a:t>
            </a:fld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763DB3E-7AE1-48DD-8469-8816568E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123" y="773112"/>
            <a:ext cx="5257800" cy="56832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4000" dirty="0"/>
              <a:t>Meilensteine</a:t>
            </a: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8EA2A2CE-06E0-C1BE-D0A6-E73C9BE634C1}"/>
              </a:ext>
            </a:extLst>
          </p:cNvPr>
          <p:cNvSpPr txBox="1">
            <a:spLocks/>
          </p:cNvSpPr>
          <p:nvPr/>
        </p:nvSpPr>
        <p:spPr>
          <a:xfrm>
            <a:off x="824594" y="2205936"/>
            <a:ext cx="11367406" cy="3886732"/>
          </a:xfrm>
          <a:prstGeom prst="rect">
            <a:avLst/>
          </a:prstGeom>
        </p:spPr>
        <p:txBody>
          <a:bodyPr rtlCol="0">
            <a:normAutofit fontScale="92500"/>
          </a:bodyPr>
          <a:lstStyle>
            <a:defPPr>
              <a:defRPr lang="de-DE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</a:pPr>
            <a:r>
              <a:rPr lang="de-DE" b="1" dirty="0"/>
              <a:t>M1</a:t>
            </a:r>
            <a:r>
              <a:rPr lang="de-DE" dirty="0"/>
              <a:t>: Kickoff-Meeting – 11.12.2025 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M2</a:t>
            </a:r>
            <a:r>
              <a:rPr lang="de-DE" dirty="0"/>
              <a:t>: Prototypen für Frontend, APIs (GPS, Wetter) – 26.01.2026 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M3</a:t>
            </a:r>
            <a:r>
              <a:rPr lang="de-DE" dirty="0"/>
              <a:t>: Backend mit Datenbank, Kommunikation zu Frontend – 12.03.2026 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M4</a:t>
            </a:r>
            <a:r>
              <a:rPr lang="de-DE" dirty="0"/>
              <a:t>: Automatische Protokollerstellung und Export, Konto-Arten – 20.04.2026 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M5</a:t>
            </a:r>
            <a:r>
              <a:rPr lang="de-DE" dirty="0"/>
              <a:t>: Finales Frontend Design – 28.05.2026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M6</a:t>
            </a:r>
            <a:r>
              <a:rPr lang="de-DE" dirty="0"/>
              <a:t>: Abschluss – 15.06.2026</a:t>
            </a:r>
          </a:p>
          <a:p>
            <a:pPr marL="342900" indent="-34290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7392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10206037" y="433386"/>
            <a:ext cx="1067589" cy="471489"/>
          </a:xfrm>
        </p:spPr>
        <p:txBody>
          <a:bodyPr rtlCol="0"/>
          <a:lstStyle/>
          <a:p>
            <a:fld id="{48F63A3B-78C7-47BE-AE5E-E10140E04643}" type="slidenum">
              <a:rPr lang="de-DE" smtClean="0"/>
              <a:t>7</a:t>
            </a:fld>
            <a:endParaRPr lang="de-DE"/>
          </a:p>
        </p:txBody>
      </p:sp>
      <p:sp>
        <p:nvSpPr>
          <p:cNvPr id="5" name="Titel 25"/>
          <p:cNvSpPr>
            <a:spLocks noGrp="1"/>
          </p:cNvSpPr>
          <p:nvPr>
            <p:ph type="title"/>
          </p:nvPr>
        </p:nvSpPr>
        <p:spPr>
          <a:xfrm>
            <a:off x="765974" y="447673"/>
            <a:ext cx="6583680" cy="1531357"/>
          </a:xfrm>
        </p:spPr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6" name="Inhaltsplatzhalter 23"/>
          <p:cNvSpPr>
            <a:spLocks noGrp="1"/>
          </p:cNvSpPr>
          <p:nvPr>
            <p:ph idx="1"/>
          </p:nvPr>
        </p:nvSpPr>
        <p:spPr>
          <a:xfrm>
            <a:off x="914399" y="2098382"/>
            <a:ext cx="6772275" cy="3737585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M4 vorbereiten: </a:t>
            </a:r>
            <a:r>
              <a:rPr lang="de-DE" dirty="0"/>
              <a:t>PDF-Export, Protokollerstellung, Konto-Arten (Ziel: 20.04.2026)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Mobile App: </a:t>
            </a:r>
            <a:r>
              <a:rPr lang="de-DE" dirty="0"/>
              <a:t>GPS-Tracking fertigstellen, Fahrten ans Backend senden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Testing: </a:t>
            </a:r>
            <a:r>
              <a:rPr lang="de-DE" dirty="0"/>
              <a:t>End-to-End: Mobile App → GPS → Backend → WebApp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Nächstes Meeting: </a:t>
            </a:r>
            <a:r>
              <a:rPr lang="de-DE" dirty="0"/>
              <a:t>In ca. 4 Wochen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431606"/>
            <a:ext cx="7965461" cy="99416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Risiken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769629"/>
            <a:ext cx="7965460" cy="259104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>
              <a:spcAft>
                <a:spcPts val="600"/>
              </a:spcAft>
            </a:pPr>
            <a:r>
              <a:rPr lang="de-DE" sz="2000" dirty="0"/>
              <a:t>Es könnten Fehler gefunden werden, die sich nicht einfach lösen lassen und viel Zeit beanspruchen</a:t>
            </a:r>
          </a:p>
          <a:p>
            <a:pPr rtl="0">
              <a:spcAft>
                <a:spcPts val="600"/>
              </a:spcAft>
            </a:pPr>
            <a:endParaRPr lang="de-DE" sz="2000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8</a:t>
            </a:fld>
            <a:endParaRPr lang="de-DE" dirty="0"/>
          </a:p>
        </p:txBody>
      </p:sp>
      <p:pic>
        <p:nvPicPr>
          <p:cNvPr id="5" name="Grafik 4" descr="Warnung mit einfarbiger Füllung">
            <a:extLst>
              <a:ext uri="{FF2B5EF4-FFF2-40B4-BE49-F238E27FC236}">
                <a16:creationId xmlns:a16="http://schemas.microsoft.com/office/drawing/2014/main" id="{C048610D-2AF2-3587-C0AE-29AB2A0660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225" y="4857752"/>
            <a:ext cx="1152527" cy="1152527"/>
          </a:xfrm>
          <a:prstGeom prst="rect">
            <a:avLst/>
          </a:prstGeom>
        </p:spPr>
      </p:pic>
      <p:pic>
        <p:nvPicPr>
          <p:cNvPr id="7" name="Grafik 6" descr="Martinshorn mit einfarbiger Füllung">
            <a:extLst>
              <a:ext uri="{FF2B5EF4-FFF2-40B4-BE49-F238E27FC236}">
                <a16:creationId xmlns:a16="http://schemas.microsoft.com/office/drawing/2014/main" id="{1964C23B-A4EB-0A1A-D848-1554F1806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5673" y="4857751"/>
            <a:ext cx="1152527" cy="11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4455885" cy="272770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Vielen Dank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nutzerdefiniert">
  <a:themeElements>
    <a:clrScheme name="Benutzerdefiniert 3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163559"/>
      </a:accent6>
      <a:hlink>
        <a:srgbClr val="0066FF"/>
      </a:hlink>
      <a:folHlink>
        <a:srgbClr val="66669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6_TF78438558_Win32" id="{E5260DE1-892A-45A6-87FB-B6B6CDB6D88C}" vid="{7982CA12-75BD-4F5A-9434-39D83265C9E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{0CFED32C-4F6F-42A4-8CD0-56478309B414}tf78438558_win32</Template>
  <TotalTime>0</TotalTime>
  <Words>392</Words>
  <Application>Microsoft Office PowerPoint</Application>
  <PresentationFormat>Breitbild</PresentationFormat>
  <Paragraphs>57</Paragraphs>
  <Slides>9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Benutzerdefiniert</vt:lpstr>
      <vt:lpstr>PowerPoint-Präsentation</vt:lpstr>
      <vt:lpstr>Projektstatus</vt:lpstr>
      <vt:lpstr>Fortschritt &amp; erledigte Aufgaben</vt:lpstr>
      <vt:lpstr>ArbeitsZeit</vt:lpstr>
      <vt:lpstr>Offene Punkte</vt:lpstr>
      <vt:lpstr>Meilensteine</vt:lpstr>
      <vt:lpstr>Nächste Schritte</vt:lpstr>
      <vt:lpstr>Risiken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Christof Prevedel</dc:creator>
  <cp:lastModifiedBy>Daniel Steffelbauer</cp:lastModifiedBy>
  <cp:revision>12</cp:revision>
  <dcterms:created xsi:type="dcterms:W3CDTF">2025-12-10T16:00:37Z</dcterms:created>
  <dcterms:modified xsi:type="dcterms:W3CDTF">2026-04-12T16:00:51Z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